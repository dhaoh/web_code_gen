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5759450" cy="323977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18.png"/><Relationship Id="rId7" Type="http://schemas.openxmlformats.org/officeDocument/2006/relationships/image" Target="../media/image17.png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0.png"/><Relationship Id="rId1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png"/><Relationship Id="rId8" Type="http://schemas.openxmlformats.org/officeDocument/2006/relationships/image" Target="../media/image27.png"/><Relationship Id="rId7" Type="http://schemas.openxmlformats.org/officeDocument/2006/relationships/image" Target="../media/image26.png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37.png"/><Relationship Id="rId17" Type="http://schemas.openxmlformats.org/officeDocument/2006/relationships/image" Target="../media/image36.png"/><Relationship Id="rId16" Type="http://schemas.openxmlformats.org/officeDocument/2006/relationships/image" Target="../media/image35.png"/><Relationship Id="rId15" Type="http://schemas.openxmlformats.org/officeDocument/2006/relationships/image" Target="../media/image34.png"/><Relationship Id="rId14" Type="http://schemas.openxmlformats.org/officeDocument/2006/relationships/image" Target="../media/image33.png"/><Relationship Id="rId13" Type="http://schemas.openxmlformats.org/officeDocument/2006/relationships/image" Target="../media/image32.png"/><Relationship Id="rId12" Type="http://schemas.openxmlformats.org/officeDocument/2006/relationships/image" Target="../media/image31.png"/><Relationship Id="rId11" Type="http://schemas.openxmlformats.org/officeDocument/2006/relationships/image" Target="../media/image30.png"/><Relationship Id="rId10" Type="http://schemas.openxmlformats.org/officeDocument/2006/relationships/image" Target="../media/image29.png"/><Relationship Id="rId1" Type="http://schemas.openxmlformats.org/officeDocument/2006/relationships/image" Target="../media/image20.jpe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hyperlink" Target="router_3.post" TargetMode="External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40.jpeg"/><Relationship Id="rId2" Type="http://schemas.openxmlformats.org/officeDocument/2006/relationships/image" Target="../media/image39.png"/><Relationship Id="rId1" Type="http://schemas.openxmlformats.org/officeDocument/2006/relationships/image" Target="../media/image38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8.png"/><Relationship Id="rId8" Type="http://schemas.openxmlformats.org/officeDocument/2006/relationships/image" Target="../media/image47.png"/><Relationship Id="rId7" Type="http://schemas.openxmlformats.org/officeDocument/2006/relationships/image" Target="../media/image46.png"/><Relationship Id="rId6" Type="http://schemas.openxmlformats.org/officeDocument/2006/relationships/image" Target="../media/image45.png"/><Relationship Id="rId5" Type="http://schemas.openxmlformats.org/officeDocument/2006/relationships/hyperlink" Target="code=file.read_text" TargetMode="External"/><Relationship Id="rId4" Type="http://schemas.openxmlformats.org/officeDocument/2006/relationships/hyperlink" Target="main.py" TargetMode="External"/><Relationship Id="rId3" Type="http://schemas.openxmlformats.org/officeDocument/2006/relationships/hyperlink" Target="r=subprocess.run" TargetMode="External"/><Relationship Id="rId22" Type="http://schemas.openxmlformats.org/officeDocument/2006/relationships/slideLayout" Target="../slideLayouts/slideLayout1.xml"/><Relationship Id="rId21" Type="http://schemas.openxmlformats.org/officeDocument/2006/relationships/image" Target="../media/image55.png"/><Relationship Id="rId20" Type="http://schemas.openxmlformats.org/officeDocument/2006/relationships/image" Target="../media/image54.png"/><Relationship Id="rId2" Type="http://schemas.openxmlformats.org/officeDocument/2006/relationships/image" Target="../media/image44.png"/><Relationship Id="rId19" Type="http://schemas.openxmlformats.org/officeDocument/2006/relationships/image" Target="../media/image53.png"/><Relationship Id="rId18" Type="http://schemas.openxmlformats.org/officeDocument/2006/relationships/slide" Target="slide10.xml"/><Relationship Id="rId17" Type="http://schemas.openxmlformats.org/officeDocument/2006/relationships/slide" Target="slide1.xml"/><Relationship Id="rId16" Type="http://schemas.openxmlformats.org/officeDocument/2006/relationships/slide" Target="slide6.xml"/><Relationship Id="rId15" Type="http://schemas.openxmlformats.org/officeDocument/2006/relationships/slide" Target="slide7.xml"/><Relationship Id="rId14" Type="http://schemas.openxmlformats.org/officeDocument/2006/relationships/slide" Target="slide5.xml"/><Relationship Id="rId13" Type="http://schemas.openxmlformats.org/officeDocument/2006/relationships/image" Target="../media/image52.png"/><Relationship Id="rId12" Type="http://schemas.openxmlformats.org/officeDocument/2006/relationships/image" Target="../media/image51.jpeg"/><Relationship Id="rId11" Type="http://schemas.openxmlformats.org/officeDocument/2006/relationships/image" Target="../media/image50.png"/><Relationship Id="rId10" Type="http://schemas.openxmlformats.org/officeDocument/2006/relationships/image" Target="../media/image49.png"/><Relationship Id="rId1" Type="http://schemas.openxmlformats.org/officeDocument/2006/relationships/image" Target="../media/image43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63.png"/><Relationship Id="rId8" Type="http://schemas.openxmlformats.org/officeDocument/2006/relationships/image" Target="../media/image62.png"/><Relationship Id="rId7" Type="http://schemas.openxmlformats.org/officeDocument/2006/relationships/image" Target="../media/image50.png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Relationship Id="rId3" Type="http://schemas.openxmlformats.org/officeDocument/2006/relationships/image" Target="../media/image58.png"/><Relationship Id="rId21" Type="http://schemas.openxmlformats.org/officeDocument/2006/relationships/slideLayout" Target="../slideLayouts/slideLayout1.xml"/><Relationship Id="rId20" Type="http://schemas.openxmlformats.org/officeDocument/2006/relationships/image" Target="../media/image71.png"/><Relationship Id="rId2" Type="http://schemas.openxmlformats.org/officeDocument/2006/relationships/image" Target="../media/image57.png"/><Relationship Id="rId19" Type="http://schemas.openxmlformats.org/officeDocument/2006/relationships/image" Target="../media/image70.png"/><Relationship Id="rId18" Type="http://schemas.openxmlformats.org/officeDocument/2006/relationships/image" Target="../media/image69.png"/><Relationship Id="rId17" Type="http://schemas.openxmlformats.org/officeDocument/2006/relationships/slide" Target="slide10.xml"/><Relationship Id="rId16" Type="http://schemas.openxmlformats.org/officeDocument/2006/relationships/slide" Target="slide6.xml"/><Relationship Id="rId15" Type="http://schemas.openxmlformats.org/officeDocument/2006/relationships/slide" Target="slide8.xml"/><Relationship Id="rId14" Type="http://schemas.openxmlformats.org/officeDocument/2006/relationships/image" Target="../media/image68.png"/><Relationship Id="rId13" Type="http://schemas.openxmlformats.org/officeDocument/2006/relationships/image" Target="../media/image67.png"/><Relationship Id="rId12" Type="http://schemas.openxmlformats.org/officeDocument/2006/relationships/image" Target="../media/image66.png"/><Relationship Id="rId11" Type="http://schemas.openxmlformats.org/officeDocument/2006/relationships/image" Target="../media/image65.png"/><Relationship Id="rId10" Type="http://schemas.openxmlformats.org/officeDocument/2006/relationships/image" Target="../media/image64.png"/><Relationship Id="rId1" Type="http://schemas.openxmlformats.org/officeDocument/2006/relationships/image" Target="../media/image56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79.png"/><Relationship Id="rId8" Type="http://schemas.openxmlformats.org/officeDocument/2006/relationships/image" Target="../media/image78.png"/><Relationship Id="rId7" Type="http://schemas.openxmlformats.org/officeDocument/2006/relationships/image" Target="../media/image77.png"/><Relationship Id="rId6" Type="http://schemas.openxmlformats.org/officeDocument/2006/relationships/slide" Target="slide7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81.png"/><Relationship Id="rId10" Type="http://schemas.openxmlformats.org/officeDocument/2006/relationships/image" Target="../media/image80.png"/><Relationship Id="rId1" Type="http://schemas.openxmlformats.org/officeDocument/2006/relationships/image" Target="../media/image72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89.png"/><Relationship Id="rId8" Type="http://schemas.openxmlformats.org/officeDocument/2006/relationships/image" Target="../media/image88.png"/><Relationship Id="rId7" Type="http://schemas.openxmlformats.org/officeDocument/2006/relationships/image" Target="../media/image87.png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Relationship Id="rId3" Type="http://schemas.openxmlformats.org/officeDocument/2006/relationships/image" Target="../media/image83.png"/><Relationship Id="rId20" Type="http://schemas.openxmlformats.org/officeDocument/2006/relationships/slideLayout" Target="../slideLayouts/slideLayout1.xml"/><Relationship Id="rId2" Type="http://schemas.openxmlformats.org/officeDocument/2006/relationships/image" Target="../media/image50.png"/><Relationship Id="rId19" Type="http://schemas.openxmlformats.org/officeDocument/2006/relationships/image" Target="../media/image96.png"/><Relationship Id="rId18" Type="http://schemas.openxmlformats.org/officeDocument/2006/relationships/image" Target="../media/image53.png"/><Relationship Id="rId17" Type="http://schemas.openxmlformats.org/officeDocument/2006/relationships/image" Target="../media/image95.png"/><Relationship Id="rId16" Type="http://schemas.openxmlformats.org/officeDocument/2006/relationships/image" Target="../media/image94.png"/><Relationship Id="rId15" Type="http://schemas.openxmlformats.org/officeDocument/2006/relationships/slide" Target="slide10.xml"/><Relationship Id="rId14" Type="http://schemas.openxmlformats.org/officeDocument/2006/relationships/slide" Target="slide8.xml"/><Relationship Id="rId13" Type="http://schemas.openxmlformats.org/officeDocument/2006/relationships/image" Target="../media/image93.png"/><Relationship Id="rId12" Type="http://schemas.openxmlformats.org/officeDocument/2006/relationships/image" Target="../media/image92.png"/><Relationship Id="rId11" Type="http://schemas.openxmlformats.org/officeDocument/2006/relationships/image" Target="../media/image91.png"/><Relationship Id="rId10" Type="http://schemas.openxmlformats.org/officeDocument/2006/relationships/image" Target="../media/image90.png"/><Relationship Id="rId1" Type="http://schemas.openxmlformats.org/officeDocument/2006/relationships/image" Target="../media/image82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02.png"/><Relationship Id="rId7" Type="http://schemas.openxmlformats.org/officeDocument/2006/relationships/image" Target="../media/image101.png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Relationship Id="rId3" Type="http://schemas.openxmlformats.org/officeDocument/2006/relationships/image" Target="../media/image97.png"/><Relationship Id="rId2" Type="http://schemas.openxmlformats.org/officeDocument/2006/relationships/image" Target="../media/image94.png"/><Relationship Id="rId1" Type="http://schemas.openxmlformats.org/officeDocument/2006/relationships/slide" Target="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75729" y="628420"/>
          <a:ext cx="5659120" cy="756919"/>
        </p:xfrm>
        <a:graphic>
          <a:graphicData uri="http://schemas.openxmlformats.org/drawingml/2006/table">
            <a:tbl>
              <a:tblPr/>
              <a:tblGrid>
                <a:gridCol w="5659120"/>
              </a:tblGrid>
              <a:tr h="7537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box 4"/>
          <p:cNvSpPr/>
          <p:nvPr/>
        </p:nvSpPr>
        <p:spPr>
          <a:xfrm>
            <a:off x="75729" y="628420"/>
            <a:ext cx="5608955" cy="706755"/>
          </a:xfrm>
          <a:prstGeom prst="rect">
            <a:avLst/>
          </a:prstGeom>
          <a:solidFill>
            <a:srgbClr val="4D4DFF">
              <a:alpha val="9647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790575" algn="l" rtl="0" eaLnBrk="0">
              <a:lnSpc>
                <a:spcPct val="88000"/>
              </a:lnSpc>
            </a:pPr>
            <a:r>
              <a:rPr sz="1400" b="1" kern="0" spc="-1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Model-Driven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b="1" kern="0" spc="-1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Web</a:t>
            </a:r>
            <a:r>
              <a:rPr sz="1400" kern="0" spc="11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b="1" kern="0" spc="-1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Appli</a:t>
            </a:r>
            <a:r>
              <a:rPr sz="1400" b="1" kern="0" spc="-2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cation</a:t>
            </a:r>
            <a:r>
              <a:rPr sz="1400" kern="0" spc="15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b="1" kern="0" spc="-2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Code</a:t>
            </a:r>
            <a:r>
              <a:rPr sz="1400" kern="0" spc="15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400" b="1" kern="0" spc="-2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Generation</a:t>
            </a:r>
            <a:endParaRPr sz="14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962025" algn="l" rtl="0" eaLnBrk="0">
              <a:lnSpc>
                <a:spcPct val="86000"/>
              </a:lnSpc>
              <a:spcBef>
                <a:spcPts val="350"/>
              </a:spcBef>
            </a:pPr>
            <a:r>
              <a:rPr sz="1400" kern="0" spc="-6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</a:t>
            </a:r>
            <a:r>
              <a:rPr sz="1400" kern="0" spc="16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400" kern="0" spc="-6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Comparative</a:t>
            </a:r>
            <a:r>
              <a:rPr sz="1400" kern="0" spc="15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400" kern="0" spc="-6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Study</a:t>
            </a:r>
            <a:r>
              <a:rPr sz="1400" kern="0" spc="9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400" kern="0" spc="-6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with</a:t>
            </a:r>
            <a:r>
              <a:rPr sz="1400" kern="0" spc="21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400" kern="0" spc="-6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Pure</a:t>
            </a:r>
            <a:r>
              <a:rPr sz="1400" kern="0" spc="21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400" kern="0" spc="-6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LLM</a:t>
            </a:r>
            <a:r>
              <a:rPr sz="1400" kern="0" spc="12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400" kern="0" spc="-6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Approa</a:t>
            </a:r>
            <a:r>
              <a:rPr sz="1400" kern="0" spc="-7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ches</a:t>
            </a:r>
            <a:endParaRPr sz="14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1717705" y="1566956"/>
            <a:ext cx="2327910" cy="774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300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Software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Req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uirements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Analysis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and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Design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3000"/>
              </a:lnSpc>
            </a:pPr>
            <a:endParaRPr sz="2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913765" algn="l" rtl="0" eaLnBrk="0">
              <a:lnSpc>
                <a:spcPct val="93000"/>
              </a:lnSpc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May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2026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4030721" y="3168302"/>
            <a:ext cx="1704003" cy="5974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217131" y="883552"/>
          <a:ext cx="2630170" cy="1604010"/>
        </p:xfrm>
        <a:graphic>
          <a:graphicData uri="http://schemas.openxmlformats.org/drawingml/2006/table">
            <a:tbl>
              <a:tblPr/>
              <a:tblGrid>
                <a:gridCol w="2630170"/>
              </a:tblGrid>
              <a:tr h="2051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</a:pPr>
                      <a:endParaRPr sz="2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64135" algn="l" rtl="0" eaLnBrk="0">
                        <a:lnSpc>
                          <a:spcPct val="75000"/>
                        </a:lnSpc>
                        <a:spcBef>
                          <a:spcPts val="0"/>
                        </a:spcBef>
                      </a:pPr>
                      <a:r>
                        <a:rPr sz="11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Limitations</a:t>
                      </a:r>
                      <a:r>
                        <a:rPr sz="1100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11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of</a:t>
                      </a:r>
                      <a:r>
                        <a:rPr sz="1100" kern="0" spc="1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11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Pure</a:t>
                      </a:r>
                      <a:r>
                        <a:rPr sz="1100" kern="0" spc="1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11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LLM</a:t>
                      </a:r>
                      <a:r>
                        <a:rPr sz="1100" kern="0" spc="1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11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Gener</a:t>
                      </a:r>
                      <a:r>
                        <a:rPr sz="11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ation</a:t>
                      </a:r>
                      <a:endParaRPr sz="11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393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93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93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3939BF"/>
                    </a:solidFill>
                  </a:tcPr>
                </a:tc>
              </a:tr>
              <a:tr h="13989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9000"/>
                        </a:lnSpc>
                      </a:pPr>
                      <a:endParaRPr sz="1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306705" indent="-66675" algn="l" rtl="0" eaLnBrk="0">
                        <a:lnSpc>
                          <a:spcPct val="114000"/>
                        </a:lnSpc>
                        <a:spcBef>
                          <a:spcPts val="0"/>
                        </a:spcBef>
                        <a:tabLst>
                          <a:tab pos="309880" algn="l"/>
                        </a:tabLst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	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	</a:t>
                      </a:r>
                      <a:r>
                        <a:rPr sz="9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Structural</a:t>
                      </a:r>
                      <a:r>
                        <a:rPr sz="9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9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Incon</a:t>
                      </a:r>
                      <a:r>
                        <a:rPr sz="9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sistency</a:t>
                      </a:r>
                      <a:r>
                        <a:rPr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—</a:t>
                      </a:r>
                      <a:r>
                        <a:rPr sz="9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different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    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structures</a:t>
                      </a:r>
                      <a:r>
                        <a:rPr sz="9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across</a:t>
                      </a:r>
                      <a:r>
                        <a:rPr sz="9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runs</a:t>
                      </a:r>
                      <a:endParaRPr sz="9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313055" indent="-73025" algn="l" rtl="0" eaLnBrk="0">
                        <a:lnSpc>
                          <a:spcPct val="106000"/>
                        </a:lnSpc>
                        <a:spcBef>
                          <a:spcPts val="230"/>
                        </a:spcBef>
                        <a:tabLst>
                          <a:tab pos="314960" algn="l"/>
                        </a:tabLst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	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	</a:t>
                      </a:r>
                      <a:r>
                        <a:rPr sz="9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Import</a:t>
                      </a:r>
                      <a:r>
                        <a:rPr sz="9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9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&amp;</a:t>
                      </a:r>
                      <a:r>
                        <a:rPr sz="9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9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Dependency</a:t>
                      </a:r>
                      <a:r>
                        <a:rPr sz="9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9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Errors</a:t>
                      </a:r>
                      <a:r>
                        <a:rPr sz="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—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           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non-compilable</a:t>
                      </a:r>
                      <a:r>
                        <a:rPr sz="900" kern="0" spc="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output</a:t>
                      </a:r>
                      <a:endParaRPr sz="9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307340" indent="-67310" algn="l" rtl="0" eaLnBrk="0">
                        <a:lnSpc>
                          <a:spcPct val="112000"/>
                        </a:lnSpc>
                        <a:spcBef>
                          <a:spcPts val="440"/>
                        </a:spcBef>
                        <a:tabLst>
                          <a:tab pos="314960" algn="l"/>
                        </a:tabLst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	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	</a:t>
                      </a:r>
                      <a:r>
                        <a:rPr sz="9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Business</a:t>
                      </a:r>
                      <a:r>
                        <a:rPr sz="9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9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Rule</a:t>
                      </a:r>
                      <a:r>
                        <a:rPr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9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Violations</a:t>
                      </a:r>
                      <a:r>
                        <a:rPr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—</a:t>
                      </a:r>
                      <a:r>
                        <a:rPr sz="9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ov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erlooked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constraints</a:t>
                      </a:r>
                      <a:endParaRPr sz="9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307340" indent="-67310" algn="l" rtl="0" eaLnBrk="0">
                        <a:lnSpc>
                          <a:spcPct val="114000"/>
                        </a:lnSpc>
                        <a:spcBef>
                          <a:spcPts val="230"/>
                        </a:spcBef>
                        <a:tabLst>
                          <a:tab pos="314960" algn="l"/>
                        </a:tabLst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	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	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Low</a:t>
                      </a:r>
                      <a:r>
                        <a:rPr sz="9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Reproducibility</a:t>
                      </a:r>
                      <a:r>
                        <a:rPr sz="9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9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—</a:t>
                      </a:r>
                      <a:r>
                        <a:rPr sz="9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same</a:t>
                      </a:r>
                      <a:r>
                        <a:rPr sz="9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prompt</a:t>
                      </a:r>
                      <a:r>
                        <a:rPr sz="9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i="1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→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 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different</a:t>
                      </a:r>
                      <a:r>
                        <a:rPr sz="900" kern="0" spc="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code</a:t>
                      </a:r>
                      <a:endParaRPr sz="9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EBE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BE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EBE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F9"/>
                    </a:solidFill>
                  </a:tcPr>
                </a:tc>
              </a:tr>
            </a:tbl>
          </a:graphicData>
        </a:graphic>
      </p:graphicFrame>
      <p:pic>
        <p:nvPicPr>
          <p:cNvPr id="12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98107" y="2178888"/>
            <a:ext cx="59601" cy="59601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98107" y="1837271"/>
            <a:ext cx="59601" cy="59601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98107" y="1495654"/>
            <a:ext cx="59601" cy="59601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98107" y="1154037"/>
            <a:ext cx="59601" cy="59601"/>
          </a:xfrm>
          <a:prstGeom prst="rect">
            <a:avLst/>
          </a:prstGeom>
        </p:spPr>
      </p:pic>
      <p:graphicFrame>
        <p:nvGraphicFramePr>
          <p:cNvPr id="20" name="table 20"/>
          <p:cNvGraphicFramePr>
            <a:graphicFrameLocks noGrp="1"/>
          </p:cNvGraphicFramePr>
          <p:nvPr/>
        </p:nvGraphicFramePr>
        <p:xfrm>
          <a:off x="2963164" y="883549"/>
          <a:ext cx="2630170" cy="1463040"/>
        </p:xfrm>
        <a:graphic>
          <a:graphicData uri="http://schemas.openxmlformats.org/drawingml/2006/table">
            <a:tbl>
              <a:tblPr/>
              <a:tblGrid>
                <a:gridCol w="2630170"/>
              </a:tblGrid>
              <a:tr h="2159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</a:pPr>
                      <a:endParaRPr sz="1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58420" algn="l" rtl="0" eaLnBrk="0">
                        <a:lnSpc>
                          <a:spcPct val="91000"/>
                        </a:lnSpc>
                      </a:pPr>
                      <a:r>
                        <a:rPr sz="11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Our</a:t>
                      </a:r>
                      <a:r>
                        <a:rPr sz="1100" kern="0" spc="1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11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Hypoth</a:t>
                      </a:r>
                      <a:r>
                        <a:rPr sz="1100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esis</a:t>
                      </a:r>
                      <a:endParaRPr sz="11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393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93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93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3939BF"/>
                    </a:solidFill>
                  </a:tcPr>
                </a:tc>
              </a:tr>
              <a:tr h="12471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2000"/>
                        </a:lnSpc>
                      </a:pPr>
                      <a:endParaRPr sz="1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306705" indent="-66675" algn="l" rtl="0" eaLnBrk="0">
                        <a:lnSpc>
                          <a:spcPct val="112000"/>
                        </a:lnSpc>
                        <a:spcBef>
                          <a:spcPts val="0"/>
                        </a:spcBef>
                        <a:tabLst>
                          <a:tab pos="315595" algn="l"/>
                        </a:tabLst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	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	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Domain</a:t>
                      </a:r>
                      <a:r>
                        <a:rPr sz="9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models</a:t>
                      </a:r>
                      <a:r>
                        <a:rPr sz="9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provide</a:t>
                      </a:r>
                      <a:r>
                        <a:rPr sz="9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de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terministic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      </a:t>
                      </a:r>
                      <a:r>
                        <a:rPr sz="9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structure</a:t>
                      </a:r>
                      <a:endParaRPr sz="9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240030" algn="l" rtl="0" eaLnBrk="0">
                        <a:lnSpc>
                          <a:spcPct val="130000"/>
                        </a:lnSpc>
                        <a:spcBef>
                          <a:spcPts val="5"/>
                        </a:spcBef>
                        <a:tabLst>
                          <a:tab pos="311785" algn="l"/>
                          <a:tab pos="315595" algn="l"/>
                        </a:tabLst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	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	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LLMs</a:t>
                      </a:r>
                      <a:r>
                        <a:rPr sz="9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excel</a:t>
                      </a:r>
                      <a:r>
                        <a:rPr sz="9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at</a:t>
                      </a:r>
                      <a:r>
                        <a:rPr sz="9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business</a:t>
                      </a:r>
                      <a:r>
                        <a:rPr sz="9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logic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com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pletion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	</a:t>
                      </a:r>
                      <a:r>
                        <a:rPr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Combining</a:t>
                      </a:r>
                      <a:r>
                        <a:rPr sz="9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both</a:t>
                      </a:r>
                      <a:r>
                        <a:rPr sz="9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i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→</a:t>
                      </a:r>
                      <a:r>
                        <a:rPr sz="9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reliable,</a:t>
                      </a:r>
                      <a:r>
                        <a:rPr sz="9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consistent</a:t>
                      </a:r>
                      <a:endParaRPr sz="9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marL="307975" algn="l" rtl="0" eaLnBrk="0">
                        <a:lnSpc>
                          <a:spcPct val="95000"/>
                        </a:lnSpc>
                        <a:spcBef>
                          <a:spcPts val="145"/>
                        </a:spcBef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code</a:t>
                      </a:r>
                      <a:endParaRPr sz="9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algn="l" rtl="0" eaLnBrk="0">
                        <a:lnSpc>
                          <a:spcPct val="131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307975" indent="-67945" algn="l" rtl="0" eaLnBrk="0">
                        <a:lnSpc>
                          <a:spcPct val="112000"/>
                        </a:lnSpc>
                        <a:spcBef>
                          <a:spcPts val="5"/>
                        </a:spcBef>
                        <a:tabLst>
                          <a:tab pos="315595" algn="l"/>
                        </a:tabLst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	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	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Feedback</a:t>
                      </a:r>
                      <a:r>
                        <a:rPr sz="9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lo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ops</a:t>
                      </a:r>
                      <a:r>
                        <a:rPr sz="9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can</a:t>
                      </a:r>
                      <a:r>
                        <a:rPr sz="9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automatically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           </a:t>
                      </a: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correct</a:t>
                      </a:r>
                      <a:r>
                        <a:rPr sz="9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erro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rs</a:t>
                      </a:r>
                      <a:endParaRPr sz="9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EBE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BE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EBE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F9"/>
                    </a:solidFill>
                  </a:tcPr>
                </a:tc>
              </a:tr>
            </a:tbl>
          </a:graphicData>
        </a:graphic>
      </p:graphicFrame>
      <p:pic>
        <p:nvPicPr>
          <p:cNvPr id="22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144139" y="2037611"/>
            <a:ext cx="59601" cy="59601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144139" y="1695981"/>
            <a:ext cx="59601" cy="59601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144139" y="1506192"/>
            <a:ext cx="59601" cy="59601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3144139" y="1164575"/>
            <a:ext cx="59601" cy="59601"/>
          </a:xfrm>
          <a:prstGeom prst="rect">
            <a:avLst/>
          </a:prstGeom>
        </p:spPr>
      </p:pic>
      <p:sp>
        <p:nvSpPr>
          <p:cNvPr id="30" name="textbox 30"/>
          <p:cNvSpPr/>
          <p:nvPr/>
        </p:nvSpPr>
        <p:spPr>
          <a:xfrm>
            <a:off x="0" y="0"/>
            <a:ext cx="5760085" cy="350520"/>
          </a:xfrm>
          <a:prstGeom prst="rect">
            <a:avLst/>
          </a:prstGeom>
          <a:solidFill>
            <a:srgbClr val="4D4D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</a:pPr>
            <a:endParaRPr sz="7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4460" algn="l" rtl="0" eaLnBrk="0">
              <a:lnSpc>
                <a:spcPct val="86000"/>
              </a:lnSpc>
              <a:spcBef>
                <a:spcPts val="5"/>
              </a:spcBef>
            </a:pPr>
            <a:r>
              <a:rPr sz="1400" kern="0" spc="-5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Background</a:t>
            </a:r>
            <a:r>
              <a:rPr sz="1400" kern="0" spc="14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400" kern="0" spc="-5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&amp;</a:t>
            </a:r>
            <a:r>
              <a:rPr sz="1400" kern="0" spc="21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400" kern="0" spc="-5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</a:t>
            </a:r>
            <a:r>
              <a:rPr sz="1400" kern="0" spc="-6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roblem</a:t>
            </a:r>
            <a:r>
              <a:rPr sz="1400" kern="0" spc="14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400" kern="0" spc="-6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Statement</a:t>
            </a:r>
            <a:endParaRPr sz="14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161742" y="2666861"/>
            <a:ext cx="5436870" cy="1562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900" b="1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Research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900" b="1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Question:</a:t>
            </a:r>
            <a:r>
              <a:rPr sz="900" kern="0" spc="2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900" i="1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Can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900" i="1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model-driven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900" i="1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constraints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900" i="1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significantly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900" i="1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improve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900" i="1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LLM-generated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900" i="1" kern="0" spc="-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code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900" i="1" kern="0" spc="-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quality?</a:t>
            </a:r>
            <a:endParaRPr sz="9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textbox 34"/>
          <p:cNvSpPr/>
          <p:nvPr/>
        </p:nvSpPr>
        <p:spPr>
          <a:xfrm>
            <a:off x="118891" y="486716"/>
            <a:ext cx="5320030" cy="1562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900" b="1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The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900" b="1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Challenge:</a:t>
            </a:r>
            <a:r>
              <a:rPr sz="900" kern="0" spc="2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LLMs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can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generat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code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from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natural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language,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but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face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critical</a:t>
            </a:r>
            <a:r>
              <a:rPr sz="900" kern="0" spc="1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issues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practice: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4141403" y="3037558"/>
            <a:ext cx="1582589" cy="72115"/>
          </a:xfrm>
          <a:prstGeom prst="rect">
            <a:avLst/>
          </a:prstGeom>
        </p:spPr>
      </p:pic>
      <p:sp>
        <p:nvSpPr>
          <p:cNvPr id="38" name="textbox 38"/>
          <p:cNvSpPr/>
          <p:nvPr/>
        </p:nvSpPr>
        <p:spPr>
          <a:xfrm>
            <a:off x="5526026" y="3138667"/>
            <a:ext cx="179705" cy="895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ts val="505"/>
              </a:lnSpc>
            </a:pPr>
            <a:r>
              <a:rPr sz="4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 / 10</a:t>
            </a:r>
            <a:endParaRPr sz="4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2908098" y="940093"/>
            <a:ext cx="2750945" cy="253200"/>
            <a:chOff x="0" y="0"/>
            <a:chExt cx="2750945" cy="253200"/>
          </a:xfrm>
        </p:grpSpPr>
        <p:pic>
          <p:nvPicPr>
            <p:cNvPr id="40" name="picture 4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2750945" cy="253200"/>
            </a:xfrm>
            <a:prstGeom prst="rect">
              <a:avLst/>
            </a:prstGeom>
          </p:spPr>
        </p:pic>
        <p:sp>
          <p:nvSpPr>
            <p:cNvPr id="42" name="textbox 42"/>
            <p:cNvSpPr/>
            <p:nvPr/>
          </p:nvSpPr>
          <p:spPr>
            <a:xfrm>
              <a:off x="-12700" y="-12700"/>
              <a:ext cx="2776855" cy="2787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2000"/>
                </a:lnSpc>
              </a:pPr>
              <a:endParaRPr sz="3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365125" algn="l" rtl="0" eaLnBrk="0">
                <a:lnSpc>
                  <a:spcPct val="93000"/>
                </a:lnSpc>
                <a:spcBef>
                  <a:spcPts val="0"/>
                </a:spcBef>
              </a:pPr>
              <a:r>
                <a:rPr sz="1100" b="1" kern="0" spc="4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Pure</a:t>
              </a:r>
              <a:r>
                <a:rPr sz="1100" kern="0" spc="18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1100" b="1" kern="0" spc="4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LLM</a:t>
              </a:r>
              <a:r>
                <a:rPr sz="1100" kern="0" spc="18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1100" b="1" kern="0" spc="4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Method</a:t>
              </a:r>
              <a:r>
                <a:rPr sz="1100" kern="0" spc="18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1100" b="1" kern="0" spc="4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(Ba</a:t>
              </a:r>
              <a:r>
                <a:rPr sz="1100" b="1" kern="0" spc="3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seline)</a:t>
              </a:r>
              <a:endParaRPr sz="11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</p:grpSp>
      <p:pic>
        <p:nvPicPr>
          <p:cNvPr id="44" name="pictur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908098" y="997014"/>
            <a:ext cx="2795747" cy="1373201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 rot="21600000">
            <a:off x="106997" y="940093"/>
            <a:ext cx="2750450" cy="253200"/>
            <a:chOff x="0" y="0"/>
            <a:chExt cx="2750450" cy="253200"/>
          </a:xfrm>
        </p:grpSpPr>
        <p:pic>
          <p:nvPicPr>
            <p:cNvPr id="46" name="picture 4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2750450" cy="253200"/>
            </a:xfrm>
            <a:prstGeom prst="rect">
              <a:avLst/>
            </a:prstGeom>
          </p:spPr>
        </p:pic>
        <p:sp>
          <p:nvSpPr>
            <p:cNvPr id="48" name="textbox 48"/>
            <p:cNvSpPr/>
            <p:nvPr/>
          </p:nvSpPr>
          <p:spPr>
            <a:xfrm>
              <a:off x="-12700" y="-12700"/>
              <a:ext cx="2776220" cy="2787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2000"/>
                </a:lnSpc>
              </a:pPr>
              <a:endParaRPr sz="3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367665" algn="l" rtl="0" eaLnBrk="0">
                <a:lnSpc>
                  <a:spcPct val="93000"/>
                </a:lnSpc>
                <a:spcBef>
                  <a:spcPts val="0"/>
                </a:spcBef>
              </a:pPr>
              <a:r>
                <a:rPr sz="1100" b="1" kern="0" spc="4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Model-Drive</a:t>
              </a:r>
              <a:r>
                <a:rPr sz="1100" b="1" kern="0" spc="3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n</a:t>
              </a:r>
              <a:r>
                <a:rPr sz="1100" kern="0" spc="17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1100" b="1" kern="0" spc="3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Method</a:t>
              </a:r>
              <a:r>
                <a:rPr sz="1100" kern="0" spc="18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1100" b="1" kern="0" spc="3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(Ours)</a:t>
              </a:r>
              <a:endParaRPr sz="11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</p:grpSp>
      <p:pic>
        <p:nvPicPr>
          <p:cNvPr id="50" name="picture 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6997" y="997025"/>
            <a:ext cx="2795747" cy="1153671"/>
          </a:xfrm>
          <a:prstGeom prst="rect">
            <a:avLst/>
          </a:prstGeom>
        </p:spPr>
      </p:pic>
      <p:sp>
        <p:nvSpPr>
          <p:cNvPr id="52" name="textbox 52"/>
          <p:cNvSpPr/>
          <p:nvPr/>
        </p:nvSpPr>
        <p:spPr>
          <a:xfrm>
            <a:off x="0" y="0"/>
            <a:ext cx="5760085" cy="350520"/>
          </a:xfrm>
          <a:prstGeom prst="rect">
            <a:avLst/>
          </a:prstGeom>
          <a:solidFill>
            <a:srgbClr val="4D4D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</a:pPr>
            <a:endParaRPr sz="7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5095" algn="l" rtl="0" eaLnBrk="0">
              <a:lnSpc>
                <a:spcPct val="86000"/>
              </a:lnSpc>
              <a:spcBef>
                <a:spcPts val="5"/>
              </a:spcBef>
            </a:pPr>
            <a:r>
              <a:rPr sz="1400" kern="0" spc="-7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Method</a:t>
            </a:r>
            <a:r>
              <a:rPr sz="1400" kern="0" spc="16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400" kern="0" spc="-7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Overview:</a:t>
            </a:r>
            <a:r>
              <a:rPr sz="1400" kern="0" spc="29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400" kern="0" spc="-7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Two</a:t>
            </a:r>
            <a:r>
              <a:rPr sz="1400" kern="0" spc="11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400" kern="0" spc="-7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Approaches</a:t>
            </a:r>
            <a:r>
              <a:rPr sz="1400" kern="0" spc="17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400" kern="0" spc="-7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Compared</a:t>
            </a:r>
            <a:endParaRPr sz="14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grpSp>
        <p:nvGrpSpPr>
          <p:cNvPr id="6" name="group 6"/>
          <p:cNvGrpSpPr/>
          <p:nvPr/>
        </p:nvGrpSpPr>
        <p:grpSpPr>
          <a:xfrm rot="21600000">
            <a:off x="157785" y="1212265"/>
            <a:ext cx="1494304" cy="843205"/>
            <a:chOff x="0" y="0"/>
            <a:chExt cx="1494304" cy="843205"/>
          </a:xfrm>
        </p:grpSpPr>
        <p:sp>
          <p:nvSpPr>
            <p:cNvPr id="54" name="path 54"/>
            <p:cNvSpPr/>
            <p:nvPr/>
          </p:nvSpPr>
          <p:spPr>
            <a:xfrm>
              <a:off x="0" y="0"/>
              <a:ext cx="40488" cy="591197"/>
            </a:xfrm>
            <a:custGeom>
              <a:avLst/>
              <a:gdLst/>
              <a:ahLst/>
              <a:cxnLst/>
              <a:rect l="0" t="0" r="0" b="0"/>
              <a:pathLst>
                <a:path w="63" h="931">
                  <a:moveTo>
                    <a:pt x="51" y="11"/>
                  </a:moveTo>
                  <a:cubicBezTo>
                    <a:pt x="29" y="11"/>
                    <a:pt x="11" y="29"/>
                    <a:pt x="11" y="51"/>
                  </a:cubicBezTo>
                  <a:lnTo>
                    <a:pt x="11" y="283"/>
                  </a:lnTo>
                  <a:cubicBezTo>
                    <a:pt x="11" y="305"/>
                    <a:pt x="29" y="323"/>
                    <a:pt x="51" y="323"/>
                  </a:cubicBezTo>
                  <a:moveTo>
                    <a:pt x="51" y="210"/>
                  </a:moveTo>
                  <a:cubicBezTo>
                    <a:pt x="29" y="210"/>
                    <a:pt x="11" y="228"/>
                    <a:pt x="11" y="250"/>
                  </a:cubicBezTo>
                  <a:lnTo>
                    <a:pt x="11" y="482"/>
                  </a:lnTo>
                  <a:cubicBezTo>
                    <a:pt x="11" y="504"/>
                    <a:pt x="29" y="522"/>
                    <a:pt x="51" y="522"/>
                  </a:cubicBezTo>
                  <a:moveTo>
                    <a:pt x="51" y="408"/>
                  </a:moveTo>
                  <a:cubicBezTo>
                    <a:pt x="29" y="408"/>
                    <a:pt x="11" y="426"/>
                    <a:pt x="11" y="448"/>
                  </a:cubicBezTo>
                  <a:lnTo>
                    <a:pt x="11" y="680"/>
                  </a:lnTo>
                  <a:cubicBezTo>
                    <a:pt x="11" y="702"/>
                    <a:pt x="29" y="720"/>
                    <a:pt x="51" y="720"/>
                  </a:cubicBezTo>
                  <a:moveTo>
                    <a:pt x="51" y="607"/>
                  </a:moveTo>
                  <a:cubicBezTo>
                    <a:pt x="29" y="607"/>
                    <a:pt x="11" y="625"/>
                    <a:pt x="11" y="647"/>
                  </a:cubicBezTo>
                  <a:lnTo>
                    <a:pt x="11" y="879"/>
                  </a:lnTo>
                  <a:cubicBezTo>
                    <a:pt x="11" y="901"/>
                    <a:pt x="29" y="919"/>
                    <a:pt x="51" y="919"/>
                  </a:cubicBezTo>
                </a:path>
              </a:pathLst>
            </a:custGeom>
            <a:noFill/>
            <a:ln w="15183" cap="flat">
              <a:solidFill>
                <a:srgbClr val="6666FF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6" name="path 56"/>
            <p:cNvSpPr/>
            <p:nvPr/>
          </p:nvSpPr>
          <p:spPr>
            <a:xfrm>
              <a:off x="0" y="504014"/>
              <a:ext cx="40488" cy="213186"/>
            </a:xfrm>
            <a:custGeom>
              <a:avLst/>
              <a:gdLst/>
              <a:ahLst/>
              <a:cxnLst/>
              <a:rect l="0" t="0" r="0" b="0"/>
              <a:pathLst>
                <a:path w="63" h="335">
                  <a:moveTo>
                    <a:pt x="51" y="11"/>
                  </a:moveTo>
                  <a:cubicBezTo>
                    <a:pt x="29" y="11"/>
                    <a:pt x="11" y="29"/>
                    <a:pt x="11" y="51"/>
                  </a:cubicBezTo>
                  <a:lnTo>
                    <a:pt x="11" y="283"/>
                  </a:lnTo>
                  <a:cubicBezTo>
                    <a:pt x="11" y="305"/>
                    <a:pt x="29" y="323"/>
                    <a:pt x="51" y="323"/>
                  </a:cubicBezTo>
                </a:path>
              </a:pathLst>
            </a:custGeom>
            <a:noFill/>
            <a:ln w="15183" cap="flat">
              <a:solidFill>
                <a:srgbClr val="80FF8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8" name="path 58"/>
            <p:cNvSpPr/>
            <p:nvPr/>
          </p:nvSpPr>
          <p:spPr>
            <a:xfrm>
              <a:off x="0" y="630018"/>
              <a:ext cx="1494304" cy="213186"/>
            </a:xfrm>
            <a:custGeom>
              <a:avLst/>
              <a:gdLst/>
              <a:ahLst/>
              <a:cxnLst/>
              <a:rect l="0" t="0" r="0" b="0"/>
              <a:pathLst>
                <a:path w="2353" h="335">
                  <a:moveTo>
                    <a:pt x="51" y="11"/>
                  </a:moveTo>
                  <a:cubicBezTo>
                    <a:pt x="29" y="11"/>
                    <a:pt x="11" y="29"/>
                    <a:pt x="11" y="51"/>
                  </a:cubicBezTo>
                  <a:lnTo>
                    <a:pt x="11" y="283"/>
                  </a:lnTo>
                  <a:cubicBezTo>
                    <a:pt x="11" y="305"/>
                    <a:pt x="29" y="323"/>
                    <a:pt x="51" y="323"/>
                  </a:cubicBezTo>
                  <a:lnTo>
                    <a:pt x="2353" y="323"/>
                  </a:lnTo>
                </a:path>
              </a:pathLst>
            </a:custGeom>
            <a:noFill/>
            <a:ln w="15183" cap="flat">
              <a:solidFill>
                <a:srgbClr val="6666FF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 rot="21600000">
            <a:off x="157785" y="1212265"/>
            <a:ext cx="1735199" cy="843205"/>
            <a:chOff x="0" y="0"/>
            <a:chExt cx="1735199" cy="843205"/>
          </a:xfrm>
        </p:grpSpPr>
        <p:pic>
          <p:nvPicPr>
            <p:cNvPr id="60" name="picture 6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1578642" cy="843205"/>
            </a:xfrm>
            <a:prstGeom prst="rect">
              <a:avLst/>
            </a:prstGeom>
          </p:spPr>
        </p:pic>
        <p:sp>
          <p:nvSpPr>
            <p:cNvPr id="62" name="textbox 62"/>
            <p:cNvSpPr/>
            <p:nvPr/>
          </p:nvSpPr>
          <p:spPr>
            <a:xfrm>
              <a:off x="341795" y="71959"/>
              <a:ext cx="849630" cy="70929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4000"/>
                </a:lnSpc>
              </a:pPr>
              <a:endParaRPr sz="1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113030" algn="l" rtl="0" eaLnBrk="0">
                <a:lnSpc>
                  <a:spcPct val="75000"/>
                </a:lnSpc>
              </a:pPr>
              <a:r>
                <a:rPr sz="400" kern="0" spc="5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YAML</a:t>
              </a:r>
              <a:r>
                <a:rPr sz="400" kern="0" spc="2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  </a:t>
              </a:r>
              <a:r>
                <a:rPr sz="400" kern="0" spc="5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Domain</a:t>
              </a:r>
              <a:r>
                <a:rPr sz="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  </a:t>
              </a:r>
              <a:r>
                <a:rPr sz="400" kern="0" spc="5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Model</a:t>
              </a:r>
              <a:endParaRPr sz="4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12700" algn="l" rtl="0" eaLnBrk="0">
                <a:lnSpc>
                  <a:spcPts val="505"/>
                </a:lnSpc>
                <a:spcBef>
                  <a:spcPts val="550"/>
                </a:spcBef>
              </a:pPr>
              <a:r>
                <a:rPr sz="400" kern="0" spc="4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Model</a:t>
              </a:r>
              <a:r>
                <a:rPr sz="400" kern="0" spc="2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  </a:t>
              </a:r>
              <a:r>
                <a:rPr sz="400" kern="0" spc="4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Parser</a:t>
              </a:r>
              <a:r>
                <a:rPr sz="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  </a:t>
              </a:r>
              <a:r>
                <a:rPr sz="400" i="1" kern="0" spc="4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→</a:t>
              </a:r>
              <a:r>
                <a:rPr sz="400" kern="0" spc="10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400" kern="0" spc="4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Pydantic</a:t>
              </a:r>
              <a:r>
                <a:rPr sz="400" kern="0" spc="11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 </a:t>
              </a:r>
              <a:r>
                <a:rPr sz="400" kern="0" spc="4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IR</a:t>
              </a:r>
              <a:endParaRPr sz="4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63500" algn="l" rtl="0" eaLnBrk="0">
                <a:lnSpc>
                  <a:spcPts val="505"/>
                </a:lnSpc>
                <a:spcBef>
                  <a:spcPts val="490"/>
                </a:spcBef>
              </a:pPr>
              <a:r>
                <a:rPr sz="400" kern="0" spc="4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Jinja2</a:t>
              </a:r>
              <a:r>
                <a:rPr sz="400" kern="0" spc="8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 </a:t>
              </a:r>
              <a:r>
                <a:rPr sz="400" kern="0" spc="4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Ske</a:t>
              </a:r>
              <a:r>
                <a:rPr sz="400" kern="0" spc="3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leton</a:t>
              </a:r>
              <a:r>
                <a:rPr sz="400" kern="0" spc="10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 </a:t>
              </a:r>
              <a:r>
                <a:rPr sz="400" kern="0" spc="3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Generator</a:t>
              </a:r>
              <a:endParaRPr sz="4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64770" algn="l" rtl="0" eaLnBrk="0">
                <a:lnSpc>
                  <a:spcPts val="505"/>
                </a:lnSpc>
                <a:spcBef>
                  <a:spcPts val="490"/>
                </a:spcBef>
              </a:pPr>
              <a:r>
                <a:rPr sz="400" kern="0" spc="3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LLM</a:t>
              </a:r>
              <a:r>
                <a:rPr sz="400" kern="0" spc="2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  </a:t>
              </a:r>
              <a:r>
                <a:rPr sz="400" kern="0" spc="3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Business</a:t>
              </a:r>
              <a:r>
                <a:rPr sz="400" kern="0" spc="11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 </a:t>
              </a:r>
              <a:r>
                <a:rPr sz="400" kern="0" spc="3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Logic</a:t>
              </a:r>
              <a:r>
                <a:rPr sz="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  </a:t>
              </a:r>
              <a:r>
                <a:rPr sz="400" kern="0" spc="3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Filler</a:t>
              </a:r>
              <a:endParaRPr sz="4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29210" algn="l" rtl="0" eaLnBrk="0">
                <a:lnSpc>
                  <a:spcPts val="505"/>
                </a:lnSpc>
                <a:spcBef>
                  <a:spcPts val="490"/>
                </a:spcBef>
              </a:pPr>
              <a:r>
                <a:rPr sz="400" kern="0" spc="4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Bidirectional</a:t>
              </a:r>
              <a:r>
                <a:rPr sz="400" kern="0" spc="11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 </a:t>
              </a:r>
              <a:r>
                <a:rPr sz="400" kern="0" spc="3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Feedback</a:t>
              </a:r>
              <a:r>
                <a:rPr sz="400" kern="0" spc="11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 </a:t>
              </a:r>
              <a:r>
                <a:rPr sz="400" kern="0" spc="3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Loop</a:t>
              </a:r>
              <a:endParaRPr sz="4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01000"/>
                </a:lnSpc>
              </a:pPr>
              <a:endParaRPr sz="4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151130" algn="l" rtl="0" eaLnBrk="0">
                <a:lnSpc>
                  <a:spcPts val="505"/>
                </a:lnSpc>
                <a:spcBef>
                  <a:spcPts val="5"/>
                </a:spcBef>
              </a:pPr>
              <a:r>
                <a:rPr sz="400" kern="0" spc="4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Complete</a:t>
              </a:r>
              <a:r>
                <a:rPr sz="400" kern="0" spc="13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 </a:t>
              </a:r>
              <a:r>
                <a:rPr sz="400" kern="0" spc="4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Web</a:t>
              </a:r>
              <a:r>
                <a:rPr sz="400" kern="0" spc="8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 </a:t>
              </a:r>
              <a:r>
                <a:rPr sz="400" kern="0" spc="4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App</a:t>
              </a:r>
              <a:endParaRPr sz="4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64" name="textbox 64"/>
            <p:cNvSpPr/>
            <p:nvPr/>
          </p:nvSpPr>
          <p:spPr>
            <a:xfrm>
              <a:off x="1568708" y="500816"/>
              <a:ext cx="179705" cy="895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sz="1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12700" algn="l" rtl="0" eaLnBrk="0">
                <a:lnSpc>
                  <a:spcPts val="505"/>
                </a:lnSpc>
              </a:pPr>
              <a:r>
                <a:rPr sz="400" kern="0" spc="20" dirty="0">
                  <a:solidFill>
                    <a:srgbClr val="FF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errors</a:t>
              </a:r>
              <a:endParaRPr sz="4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</p:grpSp>
      <p:sp>
        <p:nvSpPr>
          <p:cNvPr id="66" name="textbox 66"/>
          <p:cNvSpPr/>
          <p:nvPr/>
        </p:nvSpPr>
        <p:spPr>
          <a:xfrm>
            <a:off x="2958885" y="1212265"/>
            <a:ext cx="1527810" cy="213359"/>
          </a:xfrm>
          <a:prstGeom prst="rect">
            <a:avLst/>
          </a:prstGeom>
          <a:solidFill>
            <a:srgbClr val="FFF2F2">
              <a:alpha val="9647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/>
        </p:txBody>
      </p:sp>
      <p:sp>
        <p:nvSpPr>
          <p:cNvPr id="68" name="textbox 68"/>
          <p:cNvSpPr/>
          <p:nvPr/>
        </p:nvSpPr>
        <p:spPr>
          <a:xfrm>
            <a:off x="3296682" y="1273839"/>
            <a:ext cx="857250" cy="895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ts val="505"/>
              </a:lnSpc>
            </a:pPr>
            <a:r>
              <a:rPr sz="400" kern="0" spc="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Natural</a:t>
            </a:r>
            <a:r>
              <a:rPr sz="400" kern="0" spc="1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400" kern="0" spc="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Language</a:t>
            </a:r>
            <a:r>
              <a:rPr sz="4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</a:t>
            </a:r>
            <a:r>
              <a:rPr sz="400" kern="0" spc="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Des</a:t>
            </a:r>
            <a:r>
              <a:rPr sz="4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cription</a:t>
            </a:r>
            <a:endParaRPr sz="4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70" name="picture 7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958885" y="1338268"/>
            <a:ext cx="1527201" cy="213186"/>
          </a:xfrm>
          <a:prstGeom prst="rect">
            <a:avLst/>
          </a:prstGeom>
        </p:spPr>
      </p:pic>
      <p:graphicFrame>
        <p:nvGraphicFramePr>
          <p:cNvPr id="72" name="table 72"/>
          <p:cNvGraphicFramePr>
            <a:graphicFrameLocks noGrp="1"/>
          </p:cNvGraphicFramePr>
          <p:nvPr/>
        </p:nvGraphicFramePr>
        <p:xfrm>
          <a:off x="2958885" y="1212265"/>
          <a:ext cx="1527174" cy="464819"/>
        </p:xfrm>
        <a:graphic>
          <a:graphicData uri="http://schemas.openxmlformats.org/drawingml/2006/table">
            <a:tbl>
              <a:tblPr/>
              <a:tblGrid>
                <a:gridCol w="1527174"/>
              </a:tblGrid>
              <a:tr h="4521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</a:pPr>
                      <a:endParaRPr sz="1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443865" algn="l" rtl="0" eaLnBrk="0">
                        <a:lnSpc>
                          <a:spcPct val="77000"/>
                        </a:lnSpc>
                        <a:spcBef>
                          <a:spcPts val="5"/>
                        </a:spcBef>
                      </a:pPr>
                      <a:r>
                        <a:rPr sz="4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LLM</a:t>
                      </a:r>
                      <a:r>
                        <a:rPr sz="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</a:t>
                      </a:r>
                      <a:r>
                        <a:rPr sz="4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Direct</a:t>
                      </a:r>
                      <a:r>
                        <a:rPr sz="4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4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Generation</a:t>
                      </a: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4" name="textbox 74"/>
          <p:cNvSpPr/>
          <p:nvPr/>
        </p:nvSpPr>
        <p:spPr>
          <a:xfrm>
            <a:off x="3076373" y="1916532"/>
            <a:ext cx="1124585" cy="3784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71755" algn="l" rtl="0" eaLnBrk="0">
              <a:lnSpc>
                <a:spcPct val="129000"/>
              </a:lnSpc>
              <a:tabLst>
                <a:tab pos="139700" algn="l"/>
                <a:tab pos="144145" algn="l"/>
              </a:tabLst>
            </a:pP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Single-stage</a:t>
            </a:r>
            <a:r>
              <a:rPr sz="600" kern="0" spc="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genera</a:t>
            </a:r>
            <a:r>
              <a:rPr sz="6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tion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No</a:t>
            </a:r>
            <a:r>
              <a:rPr sz="600" kern="0" spc="1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structural</a:t>
            </a:r>
            <a:r>
              <a:rPr sz="600" kern="0" spc="1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constrai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nts</a:t>
            </a:r>
            <a:endParaRPr sz="6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27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71755" algn="l" rtl="0" eaLnBrk="0">
              <a:lnSpc>
                <a:spcPct val="76000"/>
              </a:lnSpc>
              <a:spcBef>
                <a:spcPts val="0"/>
              </a:spcBef>
              <a:tabLst>
                <a:tab pos="144145" algn="l"/>
              </a:tabLst>
            </a:pP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No</a:t>
            </a:r>
            <a:r>
              <a:rPr sz="600" kern="0" spc="1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feedback</a:t>
            </a:r>
            <a:r>
              <a:rPr sz="600" kern="0" spc="1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correction</a:t>
            </a:r>
            <a:endParaRPr sz="6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76" name="picture 7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089073" y="2212862"/>
            <a:ext cx="59601" cy="59601"/>
          </a:xfrm>
          <a:prstGeom prst="rect">
            <a:avLst/>
          </a:prstGeom>
        </p:spPr>
      </p:pic>
      <p:pic>
        <p:nvPicPr>
          <p:cNvPr id="78" name="picture 7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3089073" y="2073682"/>
            <a:ext cx="59601" cy="59601"/>
          </a:xfrm>
          <a:prstGeom prst="rect">
            <a:avLst/>
          </a:prstGeom>
        </p:spPr>
      </p:pic>
      <p:pic>
        <p:nvPicPr>
          <p:cNvPr id="80" name="picture 8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3089073" y="1934503"/>
            <a:ext cx="59601" cy="59601"/>
          </a:xfrm>
          <a:prstGeom prst="rect">
            <a:avLst/>
          </a:prstGeom>
        </p:spPr>
      </p:pic>
      <p:sp>
        <p:nvSpPr>
          <p:cNvPr id="82" name="textbox 82"/>
          <p:cNvSpPr/>
          <p:nvPr/>
        </p:nvSpPr>
        <p:spPr>
          <a:xfrm>
            <a:off x="2958885" y="1464272"/>
            <a:ext cx="1527810" cy="213359"/>
          </a:xfrm>
          <a:prstGeom prst="rect">
            <a:avLst/>
          </a:prstGeom>
          <a:solidFill>
            <a:srgbClr val="FFE6E6">
              <a:alpha val="99607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1000"/>
              </a:lnSpc>
            </a:pPr>
            <a:endParaRPr sz="4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523875" algn="l" rtl="0" eaLnBrk="0">
              <a:lnSpc>
                <a:spcPts val="505"/>
              </a:lnSpc>
              <a:spcBef>
                <a:spcPts val="5"/>
              </a:spcBef>
            </a:pPr>
            <a:r>
              <a:rPr sz="400" kern="0" spc="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Application</a:t>
            </a:r>
            <a:r>
              <a:rPr sz="400" kern="0" spc="1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400" kern="0" spc="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Code</a:t>
            </a:r>
            <a:endParaRPr sz="4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84" name="picture 8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4141403" y="3037558"/>
            <a:ext cx="1582589" cy="72115"/>
          </a:xfrm>
          <a:prstGeom prst="rect">
            <a:avLst/>
          </a:prstGeom>
        </p:spPr>
      </p:pic>
      <p:sp>
        <p:nvSpPr>
          <p:cNvPr id="86" name="textbox 86"/>
          <p:cNvSpPr/>
          <p:nvPr/>
        </p:nvSpPr>
        <p:spPr>
          <a:xfrm>
            <a:off x="5526028" y="3138670"/>
            <a:ext cx="179705" cy="895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ts val="505"/>
              </a:lnSpc>
            </a:pPr>
            <a:r>
              <a:rPr sz="4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 / 10</a:t>
            </a:r>
            <a:endParaRPr sz="4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picture 8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70243" y="685888"/>
            <a:ext cx="5626551" cy="40487"/>
          </a:xfrm>
          <a:prstGeom prst="rect">
            <a:avLst/>
          </a:prstGeom>
        </p:spPr>
      </p:pic>
      <p:pic>
        <p:nvPicPr>
          <p:cNvPr id="90" name="picture 9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141470" y="3047492"/>
            <a:ext cx="943724" cy="58392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 rot="21600000">
            <a:off x="5478573" y="3048758"/>
            <a:ext cx="238743" cy="56015"/>
            <a:chOff x="0" y="0"/>
            <a:chExt cx="238743" cy="56015"/>
          </a:xfrm>
        </p:grpSpPr>
        <p:sp>
          <p:nvSpPr>
            <p:cNvPr id="92" name="path 92"/>
            <p:cNvSpPr/>
            <p:nvPr/>
          </p:nvSpPr>
          <p:spPr>
            <a:xfrm>
              <a:off x="121767" y="30326"/>
              <a:ext cx="25688" cy="25688"/>
            </a:xfrm>
            <a:custGeom>
              <a:avLst/>
              <a:gdLst/>
              <a:ahLst/>
              <a:cxnLst/>
              <a:rect l="0" t="0" r="0" b="0"/>
              <a:pathLst>
                <a:path w="40" h="40">
                  <a:moveTo>
                    <a:pt x="4" y="4"/>
                  </a:moveTo>
                  <a:lnTo>
                    <a:pt x="36" y="36"/>
                  </a:lnTo>
                </a:path>
              </a:pathLst>
            </a:custGeom>
            <a:noFill/>
            <a:ln w="7591" cap="flat">
              <a:solidFill>
                <a:srgbClr val="B8B8FF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4" name="path 94"/>
            <p:cNvSpPr/>
            <p:nvPr/>
          </p:nvSpPr>
          <p:spPr>
            <a:xfrm>
              <a:off x="94857" y="3985"/>
              <a:ext cx="35427" cy="35427"/>
            </a:xfrm>
            <a:custGeom>
              <a:avLst/>
              <a:gdLst/>
              <a:ahLst/>
              <a:cxnLst/>
              <a:rect l="0" t="0" r="0" b="0"/>
              <a:pathLst>
                <a:path w="55" h="55">
                  <a:moveTo>
                    <a:pt x="51" y="27"/>
                  </a:moveTo>
                  <a:cubicBezTo>
                    <a:pt x="51" y="14"/>
                    <a:pt x="41" y="3"/>
                    <a:pt x="27" y="3"/>
                  </a:cubicBezTo>
                  <a:cubicBezTo>
                    <a:pt x="14" y="3"/>
                    <a:pt x="3" y="14"/>
                    <a:pt x="3" y="27"/>
                  </a:cubicBezTo>
                  <a:cubicBezTo>
                    <a:pt x="3" y="41"/>
                    <a:pt x="14" y="51"/>
                    <a:pt x="27" y="51"/>
                  </a:cubicBezTo>
                  <a:cubicBezTo>
                    <a:pt x="41" y="51"/>
                    <a:pt x="51" y="41"/>
                    <a:pt x="51" y="27"/>
                  </a:cubicBezTo>
                </a:path>
              </a:pathLst>
            </a:custGeom>
            <a:noFill/>
            <a:ln w="5060" cap="flat">
              <a:solidFill>
                <a:srgbClr val="B8B8FF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6" name="path 96"/>
            <p:cNvSpPr/>
            <p:nvPr/>
          </p:nvSpPr>
          <p:spPr>
            <a:xfrm>
              <a:off x="0" y="0"/>
              <a:ext cx="238743" cy="55861"/>
            </a:xfrm>
            <a:custGeom>
              <a:avLst/>
              <a:gdLst/>
              <a:ahLst/>
              <a:cxnLst/>
              <a:rect l="0" t="0" r="0" b="0"/>
              <a:pathLst>
                <a:path w="375" h="87">
                  <a:moveTo>
                    <a:pt x="67" y="83"/>
                  </a:moveTo>
                  <a:cubicBezTo>
                    <a:pt x="89" y="83"/>
                    <a:pt x="107" y="65"/>
                    <a:pt x="107" y="43"/>
                  </a:cubicBezTo>
                  <a:cubicBezTo>
                    <a:pt x="107" y="21"/>
                    <a:pt x="89" y="3"/>
                    <a:pt x="67" y="3"/>
                  </a:cubicBezTo>
                  <a:cubicBezTo>
                    <a:pt x="45" y="3"/>
                    <a:pt x="27" y="21"/>
                    <a:pt x="27" y="43"/>
                  </a:cubicBezTo>
                  <a:moveTo>
                    <a:pt x="51" y="31"/>
                  </a:moveTo>
                  <a:lnTo>
                    <a:pt x="27" y="51"/>
                  </a:lnTo>
                  <a:lnTo>
                    <a:pt x="3" y="31"/>
                  </a:lnTo>
                  <a:moveTo>
                    <a:pt x="307" y="83"/>
                  </a:moveTo>
                  <a:cubicBezTo>
                    <a:pt x="285" y="83"/>
                    <a:pt x="267" y="65"/>
                    <a:pt x="267" y="43"/>
                  </a:cubicBezTo>
                  <a:cubicBezTo>
                    <a:pt x="267" y="21"/>
                    <a:pt x="285" y="3"/>
                    <a:pt x="307" y="3"/>
                  </a:cubicBezTo>
                  <a:cubicBezTo>
                    <a:pt x="329" y="3"/>
                    <a:pt x="347" y="21"/>
                    <a:pt x="347" y="43"/>
                  </a:cubicBezTo>
                  <a:moveTo>
                    <a:pt x="371" y="31"/>
                  </a:moveTo>
                  <a:lnTo>
                    <a:pt x="347" y="51"/>
                  </a:lnTo>
                  <a:lnTo>
                    <a:pt x="323" y="31"/>
                  </a:lnTo>
                </a:path>
              </a:pathLst>
            </a:custGeom>
            <a:noFill/>
            <a:ln w="5060" cap="rnd">
              <a:solidFill>
                <a:srgbClr val="B8B8FF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pic>
        <p:nvPicPr>
          <p:cNvPr id="98" name="picture 9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0243" y="490041"/>
            <a:ext cx="5670360" cy="2671573"/>
          </a:xfrm>
          <a:prstGeom prst="rect">
            <a:avLst/>
          </a:prstGeom>
        </p:spPr>
      </p:pic>
      <p:sp>
        <p:nvSpPr>
          <p:cNvPr id="100" name="textbox 100"/>
          <p:cNvSpPr/>
          <p:nvPr/>
        </p:nvSpPr>
        <p:spPr>
          <a:xfrm>
            <a:off x="2452231" y="731511"/>
            <a:ext cx="3198495" cy="18738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46685" indent="-74930" algn="l" rtl="0" eaLnBrk="0">
              <a:lnSpc>
                <a:spcPct val="104000"/>
              </a:lnSpc>
              <a:tabLst>
                <a:tab pos="146685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	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Parser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</a:t>
            </a:r>
            <a:r>
              <a:rPr sz="900" kern="0" spc="2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YAML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i="1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→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Pydantic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IR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(Entity,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Attribute,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      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Relationship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,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BusinessRule)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36525" indent="-64770" algn="l" rtl="0" eaLnBrk="0">
              <a:lnSpc>
                <a:spcPct val="105000"/>
              </a:lnSpc>
              <a:spcBef>
                <a:spcPts val="420"/>
              </a:spcBef>
              <a:tabLst>
                <a:tab pos="141605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	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	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SQL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Generator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  IR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i="1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→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SQL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DDL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(CREATE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TABLE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 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with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constraints)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38430" indent="-66675" algn="l" rtl="0" eaLnBrk="0">
              <a:lnSpc>
                <a:spcPct val="104000"/>
              </a:lnSpc>
              <a:spcBef>
                <a:spcPts val="445"/>
              </a:spcBef>
              <a:tabLst>
                <a:tab pos="140335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	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	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API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Generator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IR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i="1" kern="0" spc="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→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FastAPI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models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,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routes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,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   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schemas,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main)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38430" indent="-66675" algn="l" rtl="0" eaLnBrk="0">
              <a:lnSpc>
                <a:spcPct val="104000"/>
              </a:lnSpc>
              <a:spcBef>
                <a:spcPts val="445"/>
              </a:spcBef>
              <a:tabLst>
                <a:tab pos="146685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	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	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UI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Generator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IR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i="1" kern="0" spc="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→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React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ListPage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,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FormPage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,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App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,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API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client)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38430" indent="-66675" algn="l" rtl="0" eaLnBrk="0">
              <a:lnSpc>
                <a:spcPct val="112000"/>
              </a:lnSpc>
              <a:spcBef>
                <a:spcPts val="450"/>
              </a:spcBef>
              <a:tabLst>
                <a:tab pos="146685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	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	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LLM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Filler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DeepSeek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fills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#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LLM</a:t>
            </a:r>
            <a:r>
              <a:rPr sz="900" u="sng" kern="0" spc="1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FILL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markers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 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skeleton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71755" algn="l" rtl="0" eaLnBrk="0">
              <a:lnSpc>
                <a:spcPct val="95000"/>
              </a:lnSpc>
              <a:spcBef>
                <a:spcPts val="265"/>
              </a:spcBef>
              <a:tabLst>
                <a:tab pos="146685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	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Feedback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Loop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py</a:t>
            </a:r>
            <a:r>
              <a:rPr sz="900" u="sng" kern="0" spc="1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compile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i="1" kern="0" spc="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→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import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check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i="1" kern="0" spc="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→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LLM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fix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02" name="picture 1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464931" y="2486202"/>
            <a:ext cx="59601" cy="59601"/>
          </a:xfrm>
          <a:prstGeom prst="rect">
            <a:avLst/>
          </a:prstGeom>
        </p:spPr>
      </p:pic>
      <p:pic>
        <p:nvPicPr>
          <p:cNvPr id="104" name="picture 10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464931" y="2144584"/>
            <a:ext cx="59601" cy="59601"/>
          </a:xfrm>
          <a:prstGeom prst="rect">
            <a:avLst/>
          </a:prstGeom>
        </p:spPr>
      </p:pic>
      <p:pic>
        <p:nvPicPr>
          <p:cNvPr id="106" name="picture 10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464931" y="1802967"/>
            <a:ext cx="59601" cy="59601"/>
          </a:xfrm>
          <a:prstGeom prst="rect">
            <a:avLst/>
          </a:prstGeom>
        </p:spPr>
      </p:pic>
      <p:pic>
        <p:nvPicPr>
          <p:cNvPr id="108" name="picture 10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464931" y="1461350"/>
            <a:ext cx="59601" cy="59601"/>
          </a:xfrm>
          <a:prstGeom prst="rect">
            <a:avLst/>
          </a:prstGeom>
        </p:spPr>
      </p:pic>
      <p:pic>
        <p:nvPicPr>
          <p:cNvPr id="110" name="picture 1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2464931" y="1119732"/>
            <a:ext cx="59601" cy="59601"/>
          </a:xfrm>
          <a:prstGeom prst="rect">
            <a:avLst/>
          </a:prstGeom>
        </p:spPr>
      </p:pic>
      <p:pic>
        <p:nvPicPr>
          <p:cNvPr id="112" name="picture 1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2464931" y="778115"/>
            <a:ext cx="59601" cy="59601"/>
          </a:xfrm>
          <a:prstGeom prst="rect">
            <a:avLst/>
          </a:prstGeom>
        </p:spPr>
      </p:pic>
      <p:sp>
        <p:nvSpPr>
          <p:cNvPr id="114" name="textbox 114"/>
          <p:cNvSpPr/>
          <p:nvPr/>
        </p:nvSpPr>
        <p:spPr>
          <a:xfrm>
            <a:off x="238518" y="724475"/>
            <a:ext cx="1979929" cy="1747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71755" algn="l" rtl="0" eaLnBrk="0">
              <a:lnSpc>
                <a:spcPct val="93000"/>
              </a:lnSpc>
              <a:tabLst>
                <a:tab pos="146685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	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LLM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DeepSee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k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V3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45415" algn="l" rtl="0" eaLnBrk="0">
              <a:lnSpc>
                <a:spcPct val="93000"/>
              </a:lnSpc>
              <a:spcBef>
                <a:spcPts val="190"/>
              </a:spcBef>
            </a:pP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(OpenAI-compatible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API)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71755" algn="l" rtl="0" eaLnBrk="0">
              <a:lnSpc>
                <a:spcPct val="72000"/>
              </a:lnSpc>
              <a:spcBef>
                <a:spcPts val="550"/>
              </a:spcBef>
              <a:tabLst>
                <a:tab pos="146685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	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Backend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  FastAPI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+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40970" algn="l" rtl="0" eaLnBrk="0">
              <a:lnSpc>
                <a:spcPts val="1360"/>
              </a:lnSpc>
            </a:pP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SQLAlchemy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+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SQLit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41605" indent="-69850" algn="l" rtl="0" eaLnBrk="0">
              <a:lnSpc>
                <a:spcPct val="99000"/>
              </a:lnSpc>
              <a:spcBef>
                <a:spcPts val="385"/>
              </a:spcBef>
              <a:tabLst>
                <a:tab pos="146685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	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	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Frontend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React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18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+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TypeScript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+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Vite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+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Tailwind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CSS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71755" algn="l" rtl="0" eaLnBrk="0">
              <a:lnSpc>
                <a:spcPct val="95000"/>
              </a:lnSpc>
              <a:spcBef>
                <a:spcPts val="635"/>
              </a:spcBef>
              <a:tabLst>
                <a:tab pos="140335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	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Templates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</a:t>
            </a:r>
            <a:r>
              <a:rPr sz="900" kern="0" spc="2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Jinja2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71755" algn="l" rtl="0" eaLnBrk="0">
              <a:lnSpc>
                <a:spcPct val="93000"/>
              </a:lnSpc>
              <a:spcBef>
                <a:spcPts val="490"/>
              </a:spcBef>
              <a:tabLst>
                <a:tab pos="146685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	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IR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Pydanti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71755" algn="l" rtl="0" eaLnBrk="0">
              <a:lnSpc>
                <a:spcPct val="95000"/>
              </a:lnSpc>
              <a:spcBef>
                <a:spcPts val="470"/>
              </a:spcBef>
              <a:tabLst>
                <a:tab pos="140335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	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Testing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pytest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(25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tests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)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71755" algn="l" rtl="0" eaLnBrk="0">
              <a:lnSpc>
                <a:spcPts val="1495"/>
              </a:lnSpc>
              <a:tabLst>
                <a:tab pos="142875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	</a:t>
            </a:r>
            <a:r>
              <a:rPr sz="900" b="1" kern="0" spc="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CI/CD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GitHub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ctions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16" name="picture 1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251218" y="2365297"/>
            <a:ext cx="59601" cy="59601"/>
          </a:xfrm>
          <a:prstGeom prst="rect">
            <a:avLst/>
          </a:prstGeom>
        </p:spPr>
      </p:pic>
      <p:pic>
        <p:nvPicPr>
          <p:cNvPr id="118" name="picture 1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251218" y="2175509"/>
            <a:ext cx="59601" cy="59601"/>
          </a:xfrm>
          <a:prstGeom prst="rect">
            <a:avLst/>
          </a:prstGeom>
        </p:spPr>
      </p:pic>
      <p:pic>
        <p:nvPicPr>
          <p:cNvPr id="120" name="picture 1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251218" y="1985720"/>
            <a:ext cx="59601" cy="59601"/>
          </a:xfrm>
          <a:prstGeom prst="rect">
            <a:avLst/>
          </a:prstGeom>
        </p:spPr>
      </p:pic>
      <p:pic>
        <p:nvPicPr>
          <p:cNvPr id="122" name="picture 12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251218" y="1795944"/>
            <a:ext cx="59601" cy="59601"/>
          </a:xfrm>
          <a:prstGeom prst="rect">
            <a:avLst/>
          </a:prstGeom>
        </p:spPr>
      </p:pic>
      <p:pic>
        <p:nvPicPr>
          <p:cNvPr id="124" name="picture 12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251218" y="1454314"/>
            <a:ext cx="59601" cy="59601"/>
          </a:xfrm>
          <a:prstGeom prst="rect">
            <a:avLst/>
          </a:prstGeom>
        </p:spPr>
      </p:pic>
      <p:pic>
        <p:nvPicPr>
          <p:cNvPr id="126" name="picture 12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251218" y="1112696"/>
            <a:ext cx="59601" cy="59601"/>
          </a:xfrm>
          <a:prstGeom prst="rect">
            <a:avLst/>
          </a:prstGeom>
        </p:spPr>
      </p:pic>
      <p:pic>
        <p:nvPicPr>
          <p:cNvPr id="128" name="picture 12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251231" y="771079"/>
            <a:ext cx="59601" cy="59601"/>
          </a:xfrm>
          <a:prstGeom prst="rect">
            <a:avLst/>
          </a:prstGeom>
        </p:spPr>
      </p:pic>
      <p:sp>
        <p:nvSpPr>
          <p:cNvPr id="130" name="textbox 130"/>
          <p:cNvSpPr/>
          <p:nvPr/>
        </p:nvSpPr>
        <p:spPr>
          <a:xfrm>
            <a:off x="0" y="0"/>
            <a:ext cx="5760085" cy="350520"/>
          </a:xfrm>
          <a:prstGeom prst="rect">
            <a:avLst/>
          </a:prstGeom>
          <a:solidFill>
            <a:srgbClr val="4D4D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</a:pPr>
            <a:endParaRPr sz="7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15570" algn="l" rtl="0" eaLnBrk="0">
              <a:lnSpc>
                <a:spcPct val="86000"/>
              </a:lnSpc>
              <a:spcBef>
                <a:spcPts val="5"/>
              </a:spcBef>
            </a:pPr>
            <a:r>
              <a:rPr sz="1400" kern="0" spc="-5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System</a:t>
            </a:r>
            <a:r>
              <a:rPr sz="1400" kern="0" spc="11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400" kern="0" spc="-5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Architecture</a:t>
            </a:r>
            <a:r>
              <a:rPr sz="1400" kern="0" spc="14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400" kern="0" spc="-5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&amp;</a:t>
            </a:r>
            <a:r>
              <a:rPr sz="1400" kern="0" spc="13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400" kern="0" spc="-5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Tech</a:t>
            </a:r>
            <a:r>
              <a:rPr sz="1400" kern="0" spc="14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400" kern="0" spc="-6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Stack</a:t>
            </a:r>
            <a:endParaRPr sz="14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2" name="textbox 132"/>
          <p:cNvSpPr/>
          <p:nvPr/>
        </p:nvSpPr>
        <p:spPr>
          <a:xfrm>
            <a:off x="2452231" y="2591439"/>
            <a:ext cx="2947035" cy="4984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42240" algn="l" rtl="0" eaLnBrk="0">
              <a:lnSpc>
                <a:spcPct val="93000"/>
              </a:lnSpc>
            </a:pPr>
            <a:r>
              <a:rPr sz="900" i="1" kern="0" spc="-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→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repeat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30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38430" indent="-66675" algn="l" rtl="0" eaLnBrk="0">
              <a:lnSpc>
                <a:spcPct val="104000"/>
              </a:lnSpc>
              <a:spcBef>
                <a:spcPts val="0"/>
              </a:spcBef>
              <a:tabLst>
                <a:tab pos="146685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	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	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Evaluator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</a:t>
            </a:r>
            <a:r>
              <a:rPr sz="900" kern="0" spc="2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Structure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+</a:t>
            </a:r>
            <a:r>
              <a:rPr sz="900" kern="0" spc="1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Compilability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+</a:t>
            </a:r>
            <a:r>
              <a:rPr sz="900" kern="0" spc="1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Consistency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scoring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34" name="picture 134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2464931" y="2827819"/>
            <a:ext cx="59601" cy="59601"/>
          </a:xfrm>
          <a:prstGeom prst="rect">
            <a:avLst/>
          </a:prstGeom>
        </p:spPr>
      </p:pic>
      <p:sp>
        <p:nvSpPr>
          <p:cNvPr id="136" name="textbox 136"/>
          <p:cNvSpPr/>
          <p:nvPr/>
        </p:nvSpPr>
        <p:spPr>
          <a:xfrm>
            <a:off x="113657" y="505801"/>
            <a:ext cx="3872865" cy="179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1100" kern="0" spc="-2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Technology</a:t>
            </a:r>
            <a:r>
              <a:rPr sz="1100" kern="0" spc="14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100" kern="0" spc="-2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Stack                              Core  Pipeline</a:t>
            </a:r>
            <a:r>
              <a:rPr sz="1100" kern="0" spc="16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100" kern="0" spc="-2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Compone</a:t>
            </a:r>
            <a:r>
              <a:rPr sz="1100" kern="0" spc="-3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nts</a:t>
            </a:r>
            <a:endParaRPr sz="11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grpSp>
        <p:nvGrpSpPr>
          <p:cNvPr id="12" name="group 12"/>
          <p:cNvGrpSpPr/>
          <p:nvPr/>
        </p:nvGrpSpPr>
        <p:grpSpPr>
          <a:xfrm rot="21600000">
            <a:off x="1655561" y="3186777"/>
            <a:ext cx="2448877" cy="53220"/>
            <a:chOff x="0" y="0"/>
            <a:chExt cx="2448877" cy="53220"/>
          </a:xfrm>
        </p:grpSpPr>
        <p:sp>
          <p:nvSpPr>
            <p:cNvPr id="138" name="path 138"/>
            <p:cNvSpPr/>
            <p:nvPr/>
          </p:nvSpPr>
          <p:spPr>
            <a:xfrm>
              <a:off x="0" y="0"/>
              <a:ext cx="2448877" cy="10121"/>
            </a:xfrm>
            <a:custGeom>
              <a:avLst/>
              <a:gdLst/>
              <a:ahLst/>
              <a:cxnLst/>
              <a:rect l="0" t="0" r="0" b="0"/>
              <a:pathLst>
                <a:path w="3856" h="15">
                  <a:moveTo>
                    <a:pt x="0" y="7"/>
                  </a:moveTo>
                  <a:lnTo>
                    <a:pt x="3856" y="7"/>
                  </a:lnTo>
                </a:path>
              </a:pathLst>
            </a:custGeom>
            <a:noFill/>
            <a:ln w="10121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0" name="path 140"/>
            <p:cNvSpPr/>
            <p:nvPr/>
          </p:nvSpPr>
          <p:spPr>
            <a:xfrm>
              <a:off x="534962" y="46678"/>
              <a:ext cx="1428521" cy="6542"/>
            </a:xfrm>
            <a:custGeom>
              <a:avLst/>
              <a:gdLst/>
              <a:ahLst/>
              <a:cxnLst/>
              <a:rect l="0" t="0" r="0" b="0"/>
              <a:pathLst>
                <a:path w="2249" h="10">
                  <a:moveTo>
                    <a:pt x="3" y="159"/>
                  </a:moveTo>
                  <a:lnTo>
                    <a:pt x="3" y="0"/>
                  </a:lnTo>
                  <a:moveTo>
                    <a:pt x="703" y="159"/>
                  </a:moveTo>
                  <a:lnTo>
                    <a:pt x="703" y="0"/>
                  </a:lnTo>
                  <a:moveTo>
                    <a:pt x="1608" y="159"/>
                  </a:moveTo>
                  <a:lnTo>
                    <a:pt x="1608" y="0"/>
                  </a:lnTo>
                  <a:moveTo>
                    <a:pt x="2245" y="159"/>
                  </a:moveTo>
                  <a:lnTo>
                    <a:pt x="2245" y="0"/>
                  </a:lnTo>
                </a:path>
              </a:pathLst>
            </a:custGeom>
            <a:noFill/>
            <a:ln w="5054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pic>
        <p:nvPicPr>
          <p:cNvPr id="142" name="picture 14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4584528" y="3037558"/>
            <a:ext cx="772304" cy="72115"/>
          </a:xfrm>
          <a:prstGeom prst="rect">
            <a:avLst/>
          </a:prstGeom>
        </p:spPr>
      </p:pic>
      <p:sp>
        <p:nvSpPr>
          <p:cNvPr id="144" name="textbox 144"/>
          <p:cNvSpPr/>
          <p:nvPr/>
        </p:nvSpPr>
        <p:spPr>
          <a:xfrm>
            <a:off x="5525142" y="3138666"/>
            <a:ext cx="180340" cy="895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ts val="505"/>
              </a:lnSpc>
            </a:pPr>
            <a:r>
              <a:rPr sz="4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</a:t>
            </a:r>
            <a:r>
              <a:rPr sz="400" kern="0" spc="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4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/ 10</a:t>
            </a:r>
            <a:endParaRPr sz="4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box 146"/>
          <p:cNvSpPr/>
          <p:nvPr/>
        </p:nvSpPr>
        <p:spPr>
          <a:xfrm>
            <a:off x="70243" y="490041"/>
            <a:ext cx="2029460" cy="187960"/>
          </a:xfrm>
          <a:prstGeom prst="rect">
            <a:avLst/>
          </a:prstGeom>
          <a:solidFill>
            <a:srgbClr val="3939B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7000"/>
              </a:lnSpc>
            </a:pPr>
            <a:endParaRPr sz="2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50800" algn="l" rtl="0" eaLnBrk="0">
              <a:lnSpc>
                <a:spcPct val="73000"/>
              </a:lnSpc>
              <a:spcBef>
                <a:spcPts val="0"/>
              </a:spcBef>
            </a:pP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YAML</a:t>
            </a:r>
            <a:r>
              <a:rPr sz="1100" kern="0" spc="21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Domain</a:t>
            </a:r>
            <a:r>
              <a:rPr sz="1100" kern="0" spc="19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Model</a:t>
            </a:r>
            <a:endParaRPr sz="11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48" name="picture 1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70243" y="675334"/>
            <a:ext cx="2040200" cy="40487"/>
          </a:xfrm>
          <a:prstGeom prst="rect">
            <a:avLst/>
          </a:prstGeom>
        </p:spPr>
      </p:pic>
      <p:pic>
        <p:nvPicPr>
          <p:cNvPr id="150" name="picture 1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0243" y="546943"/>
            <a:ext cx="2079892" cy="2693055"/>
          </a:xfrm>
          <a:prstGeom prst="rect">
            <a:avLst/>
          </a:prstGeom>
        </p:spPr>
      </p:pic>
      <p:graphicFrame>
        <p:nvGraphicFramePr>
          <p:cNvPr id="152" name="table 152"/>
          <p:cNvGraphicFramePr>
            <a:graphicFrameLocks noGrp="1"/>
          </p:cNvGraphicFramePr>
          <p:nvPr/>
        </p:nvGraphicFramePr>
        <p:xfrm>
          <a:off x="78028" y="790472"/>
          <a:ext cx="2012950" cy="2287270"/>
        </p:xfrm>
        <a:graphic>
          <a:graphicData uri="http://schemas.openxmlformats.org/drawingml/2006/table">
            <a:tbl>
              <a:tblPr>
                <a:solidFill>
                  <a:srgbClr val="F9F9F9"/>
                </a:solidFill>
              </a:tblPr>
              <a:tblGrid>
                <a:gridCol w="2012950"/>
              </a:tblGrid>
              <a:tr h="22840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48260" algn="l" rtl="0" eaLnBrk="0">
                        <a:lnSpc>
                          <a:spcPct val="81000"/>
                        </a:lnSpc>
                        <a:spcBef>
                          <a:spcPts val="0"/>
                        </a:spcBef>
                      </a:pPr>
                      <a:r>
                        <a:rPr sz="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#</a:t>
                      </a:r>
                      <a:r>
                        <a:rPr sz="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Small:</a:t>
                      </a:r>
                      <a:r>
                        <a:rPr sz="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Stu</a:t>
                      </a:r>
                      <a:r>
                        <a:rPr sz="4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dent</a:t>
                      </a:r>
                      <a:r>
                        <a:rPr sz="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+</a:t>
                      </a:r>
                      <a:r>
                        <a:rPr sz="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Course</a:t>
                      </a:r>
                      <a:r>
                        <a:rPr sz="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+</a:t>
                      </a:r>
                      <a:r>
                        <a:rPr sz="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Enrollment</a:t>
                      </a:r>
                      <a:r>
                        <a:rPr sz="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 </a:t>
                      </a:r>
                      <a:r>
                        <a:rPr sz="4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(3</a:t>
                      </a: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303530" indent="635" algn="l" rtl="0" eaLnBrk="0">
                        <a:lnSpc>
                          <a:spcPct val="118000"/>
                        </a:lnSpc>
                        <a:spcBef>
                          <a:spcPts val="145"/>
                        </a:spcBef>
                      </a:pPr>
                      <a:r>
                        <a:rPr sz="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entities ,  3</a:t>
                      </a:r>
                      <a:r>
                        <a:rPr sz="4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relationships ,</a:t>
                      </a:r>
                      <a:r>
                        <a:rPr sz="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2</a:t>
                      </a:r>
                      <a:r>
                        <a:rPr sz="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business</a:t>
                      </a:r>
                      <a:r>
                        <a:rPr sz="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            </a:t>
                      </a:r>
                      <a:r>
                        <a:rPr sz="4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rules)</a:t>
                      </a: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48895" algn="l" rtl="0" eaLnBrk="0">
                        <a:lnSpc>
                          <a:spcPct val="97000"/>
                        </a:lnSpc>
                        <a:spcBef>
                          <a:spcPts val="120"/>
                        </a:spcBef>
                      </a:pPr>
                      <a:r>
                        <a:rPr sz="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name:</a:t>
                      </a:r>
                      <a:r>
                        <a:rPr sz="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student_cour</a:t>
                      </a:r>
                      <a:r>
                        <a:rPr sz="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se_system_small</a:t>
                      </a: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50800" algn="l" rtl="0" eaLnBrk="0">
                        <a:lnSpc>
                          <a:spcPct val="97000"/>
                        </a:lnSpc>
                        <a:spcBef>
                          <a:spcPts val="130"/>
                        </a:spcBef>
                      </a:pPr>
                      <a:r>
                        <a:rPr sz="4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description:  &gt;</a:t>
                      </a: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28270" algn="l" rtl="0" eaLnBrk="0">
                        <a:lnSpc>
                          <a:spcPct val="97000"/>
                        </a:lnSpc>
                        <a:spcBef>
                          <a:spcPts val="130"/>
                        </a:spcBef>
                      </a:pPr>
                      <a:r>
                        <a:rPr sz="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A</a:t>
                      </a:r>
                      <a:r>
                        <a:rPr sz="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simple</a:t>
                      </a:r>
                      <a:r>
                        <a:rPr sz="4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student</a:t>
                      </a:r>
                      <a:r>
                        <a:rPr sz="4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course</a:t>
                      </a:r>
                      <a:r>
                        <a:rPr sz="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selection</a:t>
                      </a:r>
                      <a:r>
                        <a:rPr sz="4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syst</a:t>
                      </a:r>
                      <a:r>
                        <a:rPr sz="4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em .</a:t>
                      </a: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385445" algn="l" rtl="0" eaLnBrk="0">
                        <a:lnSpc>
                          <a:spcPct val="75000"/>
                        </a:lnSpc>
                        <a:spcBef>
                          <a:spcPts val="175"/>
                        </a:spcBef>
                      </a:pPr>
                      <a:r>
                        <a:rPr sz="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Students</a:t>
                      </a:r>
                      <a:r>
                        <a:rPr sz="4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can</a:t>
                      </a:r>
                      <a:r>
                        <a:rPr sz="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browse</a:t>
                      </a:r>
                      <a:r>
                        <a:rPr sz="4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available</a:t>
                      </a:r>
                      <a:r>
                        <a:rPr sz="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courses</a:t>
                      </a: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31445" algn="l" rtl="0" eaLnBrk="0">
                        <a:lnSpc>
                          <a:spcPct val="97000"/>
                        </a:lnSpc>
                        <a:spcBef>
                          <a:spcPts val="195"/>
                        </a:spcBef>
                      </a:pPr>
                      <a:r>
                        <a:rPr sz="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and</a:t>
                      </a:r>
                      <a:r>
                        <a:rPr sz="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enroll .  The</a:t>
                      </a:r>
                      <a:r>
                        <a:rPr sz="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syst</a:t>
                      </a:r>
                      <a:r>
                        <a:rPr sz="4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em</a:t>
                      </a:r>
                      <a:r>
                        <a:rPr sz="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tracks</a:t>
                      </a:r>
                      <a:r>
                        <a:rPr sz="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enrollment</a:t>
                      </a:r>
                      <a:r>
                        <a:rPr sz="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4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</a:t>
                      </a:r>
                      <a:r>
                        <a:rPr sz="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and</a:t>
                      </a: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423545" algn="l" rtl="0" eaLnBrk="0">
                        <a:lnSpc>
                          <a:spcPct val="97000"/>
                        </a:lnSpc>
                        <a:spcBef>
                          <a:spcPts val="130"/>
                        </a:spcBef>
                      </a:pPr>
                      <a:r>
                        <a:rPr sz="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prevents</a:t>
                      </a:r>
                      <a:r>
                        <a:rPr sz="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over</a:t>
                      </a:r>
                      <a:r>
                        <a:rPr sz="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-</a:t>
                      </a:r>
                      <a:r>
                        <a:rPr sz="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capacity</a:t>
                      </a:r>
                      <a:r>
                        <a:rPr sz="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en</a:t>
                      </a:r>
                      <a:r>
                        <a:rPr sz="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rollment .</a:t>
                      </a: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52070" algn="l" rtl="0" eaLnBrk="0">
                        <a:lnSpc>
                          <a:spcPct val="97000"/>
                        </a:lnSpc>
                        <a:spcBef>
                          <a:spcPts val="730"/>
                        </a:spcBef>
                      </a:pPr>
                      <a:r>
                        <a:rPr sz="4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entities:</a:t>
                      </a: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31445" algn="l" rtl="0" eaLnBrk="0">
                        <a:lnSpc>
                          <a:spcPts val="315"/>
                        </a:lnSpc>
                        <a:spcBef>
                          <a:spcPts val="175"/>
                        </a:spcBef>
                      </a:pPr>
                      <a:r>
                        <a:rPr sz="4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-</a:t>
                      </a:r>
                      <a:r>
                        <a:rPr sz="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name:</a:t>
                      </a:r>
                      <a:r>
                        <a:rPr sz="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Student</a:t>
                      </a: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213360" algn="l" rtl="0" eaLnBrk="0">
                        <a:lnSpc>
                          <a:spcPts val="710"/>
                        </a:lnSpc>
                      </a:pPr>
                      <a:r>
                        <a:rPr sz="4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attributes:</a:t>
                      </a: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292735" algn="l" rtl="0" eaLnBrk="0">
                        <a:lnSpc>
                          <a:spcPct val="97000"/>
                        </a:lnSpc>
                        <a:spcBef>
                          <a:spcPts val="130"/>
                        </a:spcBef>
                      </a:pPr>
                      <a:r>
                        <a:rPr sz="4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-</a:t>
                      </a:r>
                      <a:r>
                        <a:rPr sz="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name:</a:t>
                      </a:r>
                      <a:r>
                        <a:rPr sz="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id</a:t>
                      </a: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372110" algn="l" rtl="0" eaLnBrk="0">
                        <a:lnSpc>
                          <a:spcPct val="97000"/>
                        </a:lnSpc>
                        <a:spcBef>
                          <a:spcPts val="130"/>
                        </a:spcBef>
                      </a:pPr>
                      <a:r>
                        <a:rPr sz="4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type:</a:t>
                      </a:r>
                      <a:r>
                        <a:rPr sz="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integer</a:t>
                      </a: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372110" algn="l" rtl="0" eaLnBrk="0">
                        <a:lnSpc>
                          <a:spcPct val="97000"/>
                        </a:lnSpc>
                        <a:spcBef>
                          <a:spcPts val="130"/>
                        </a:spcBef>
                      </a:pPr>
                      <a:r>
                        <a:rPr sz="4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primary_key</a:t>
                      </a:r>
                      <a:r>
                        <a:rPr sz="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:</a:t>
                      </a:r>
                      <a:r>
                        <a:rPr sz="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true</a:t>
                      </a: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292735" algn="l" rtl="0" eaLnBrk="0">
                        <a:lnSpc>
                          <a:spcPct val="97000"/>
                        </a:lnSpc>
                        <a:spcBef>
                          <a:spcPts val="130"/>
                        </a:spcBef>
                      </a:pPr>
                      <a:r>
                        <a:rPr sz="4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-</a:t>
                      </a:r>
                      <a:r>
                        <a:rPr sz="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name:</a:t>
                      </a:r>
                      <a:r>
                        <a:rPr sz="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name</a:t>
                      </a: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372110" algn="l" rtl="0" eaLnBrk="0">
                        <a:lnSpc>
                          <a:spcPct val="97000"/>
                        </a:lnSpc>
                        <a:spcBef>
                          <a:spcPts val="130"/>
                        </a:spcBef>
                      </a:pPr>
                      <a:r>
                        <a:rPr sz="4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type:</a:t>
                      </a:r>
                      <a:r>
                        <a:rPr sz="4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string</a:t>
                      </a: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373380" algn="l" rtl="0" eaLnBrk="0">
                        <a:lnSpc>
                          <a:spcPct val="97000"/>
                        </a:lnSpc>
                        <a:spcBef>
                          <a:spcPts val="130"/>
                        </a:spcBef>
                      </a:pPr>
                      <a:r>
                        <a:rPr sz="4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required:  true</a:t>
                      </a: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371475" algn="l" rtl="0" eaLnBrk="0">
                        <a:lnSpc>
                          <a:spcPct val="97000"/>
                        </a:lnSpc>
                        <a:spcBef>
                          <a:spcPts val="130"/>
                        </a:spcBef>
                      </a:pPr>
                      <a:r>
                        <a:rPr sz="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max_lengt</a:t>
                      </a:r>
                      <a:r>
                        <a:rPr sz="4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h:</a:t>
                      </a:r>
                      <a:r>
                        <a:rPr sz="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100</a:t>
                      </a: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292735" algn="l" rtl="0" eaLnBrk="0">
                        <a:lnSpc>
                          <a:spcPct val="97000"/>
                        </a:lnSpc>
                        <a:spcBef>
                          <a:spcPts val="130"/>
                        </a:spcBef>
                      </a:pPr>
                      <a:r>
                        <a:rPr sz="4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-</a:t>
                      </a:r>
                      <a:r>
                        <a:rPr sz="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name:</a:t>
                      </a:r>
                      <a:r>
                        <a:rPr sz="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emai</a:t>
                      </a:r>
                      <a:r>
                        <a:rPr sz="4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l</a:t>
                      </a: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372110" algn="l" rtl="0" eaLnBrk="0">
                        <a:lnSpc>
                          <a:spcPts val="595"/>
                        </a:lnSpc>
                      </a:pPr>
                      <a:r>
                        <a:rPr sz="4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type:</a:t>
                      </a:r>
                      <a:r>
                        <a:rPr sz="4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string</a:t>
                      </a: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373380" algn="l" rtl="0" eaLnBrk="0">
                        <a:lnSpc>
                          <a:spcPct val="97000"/>
                        </a:lnSpc>
                        <a:spcBef>
                          <a:spcPts val="130"/>
                        </a:spcBef>
                      </a:pPr>
                      <a:r>
                        <a:rPr sz="4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required:  true</a:t>
                      </a: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372110" algn="l" rtl="0" eaLnBrk="0">
                        <a:lnSpc>
                          <a:spcPct val="97000"/>
                        </a:lnSpc>
                        <a:spcBef>
                          <a:spcPts val="130"/>
                        </a:spcBef>
                      </a:pPr>
                      <a:r>
                        <a:rPr sz="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unique:</a:t>
                      </a:r>
                      <a:r>
                        <a:rPr sz="4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true</a:t>
                      </a: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371475" algn="l" rtl="0" eaLnBrk="0">
                        <a:lnSpc>
                          <a:spcPct val="97000"/>
                        </a:lnSpc>
                        <a:spcBef>
                          <a:spcPts val="130"/>
                        </a:spcBef>
                      </a:pPr>
                      <a:r>
                        <a:rPr sz="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max_length:</a:t>
                      </a:r>
                      <a:r>
                        <a:rPr sz="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200</a:t>
                      </a: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212090" algn="l" rtl="0" eaLnBrk="0">
                        <a:lnSpc>
                          <a:spcPct val="97000"/>
                        </a:lnSpc>
                        <a:spcBef>
                          <a:spcPts val="130"/>
                        </a:spcBef>
                      </a:pPr>
                      <a:r>
                        <a:rPr sz="4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relationships:</a:t>
                      </a: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292735" algn="l" rtl="0" eaLnBrk="0">
                        <a:lnSpc>
                          <a:spcPct val="97000"/>
                        </a:lnSpc>
                        <a:spcBef>
                          <a:spcPts val="130"/>
                        </a:spcBef>
                      </a:pPr>
                      <a:r>
                        <a:rPr sz="4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-</a:t>
                      </a:r>
                      <a:r>
                        <a:rPr sz="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type:</a:t>
                      </a:r>
                      <a:r>
                        <a:rPr sz="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many_to_many</a:t>
                      </a: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372745" algn="l" rtl="0" eaLnBrk="0">
                        <a:lnSpc>
                          <a:spcPts val="595"/>
                        </a:lnSpc>
                      </a:pPr>
                      <a:r>
                        <a:rPr sz="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target:</a:t>
                      </a:r>
                      <a:r>
                        <a:rPr sz="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Course</a:t>
                      </a: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372745" algn="l" rtl="0" eaLnBrk="0">
                        <a:lnSpc>
                          <a:spcPct val="97000"/>
                        </a:lnSpc>
                      </a:pPr>
                      <a:r>
                        <a:rPr sz="4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through:</a:t>
                      </a:r>
                      <a:r>
                        <a:rPr sz="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En</a:t>
                      </a:r>
                      <a:r>
                        <a:rPr sz="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rollment</a:t>
                      </a: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pic>
        <p:nvPicPr>
          <p:cNvPr id="154" name="picture 1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118754" y="685888"/>
            <a:ext cx="3578025" cy="40487"/>
          </a:xfrm>
          <a:prstGeom prst="rect">
            <a:avLst/>
          </a:prstGeom>
        </p:spPr>
      </p:pic>
      <p:sp>
        <p:nvSpPr>
          <p:cNvPr id="156" name="textbox 156"/>
          <p:cNvSpPr/>
          <p:nvPr/>
        </p:nvSpPr>
        <p:spPr>
          <a:xfrm>
            <a:off x="2118753" y="490041"/>
            <a:ext cx="3571240" cy="198755"/>
          </a:xfrm>
          <a:prstGeom prst="rect">
            <a:avLst/>
          </a:prstGeom>
          <a:solidFill>
            <a:srgbClr val="3939B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91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60325" algn="l" rtl="0" eaLnBrk="0">
              <a:lnSpc>
                <a:spcPct val="91000"/>
              </a:lnSpc>
            </a:pPr>
            <a:r>
              <a:rPr sz="1100" kern="0" spc="-3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Case</a:t>
            </a:r>
            <a:r>
              <a:rPr sz="1100" kern="0" spc="14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100" kern="0" spc="-3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Study:</a:t>
            </a:r>
            <a:r>
              <a:rPr sz="1100" kern="0" spc="26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100" kern="0" spc="-3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Student</a:t>
            </a:r>
            <a:r>
              <a:rPr sz="1100" kern="0" spc="17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100" kern="0" spc="-3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Course</a:t>
            </a:r>
            <a:r>
              <a:rPr sz="1100" kern="0" spc="13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100" kern="0" spc="-3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Sel</a:t>
            </a:r>
            <a:r>
              <a:rPr sz="1100" kern="0" spc="-4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ection</a:t>
            </a:r>
            <a:r>
              <a:rPr sz="1100" kern="0" spc="14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100" kern="0" spc="-4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System</a:t>
            </a:r>
            <a:endParaRPr sz="11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graphicFrame>
        <p:nvGraphicFramePr>
          <p:cNvPr id="158" name="table 158"/>
          <p:cNvGraphicFramePr>
            <a:graphicFrameLocks noGrp="1"/>
          </p:cNvGraphicFramePr>
          <p:nvPr/>
        </p:nvGraphicFramePr>
        <p:xfrm>
          <a:off x="2118753" y="546967"/>
          <a:ext cx="3621405" cy="1045210"/>
        </p:xfrm>
        <a:graphic>
          <a:graphicData uri="http://schemas.openxmlformats.org/drawingml/2006/table">
            <a:tbl>
              <a:tblPr/>
              <a:tblGrid>
                <a:gridCol w="3621405"/>
              </a:tblGrid>
              <a:tr h="203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EBE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BE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BE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20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387985" algn="l" rtl="0" eaLnBrk="0">
                        <a:lnSpc>
                          <a:spcPct val="95000"/>
                        </a:lnSpc>
                        <a:spcBef>
                          <a:spcPts val="0"/>
                        </a:spcBef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Scale</a:t>
                      </a:r>
                      <a:r>
                        <a:rPr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    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Entities</a:t>
                      </a:r>
                      <a:r>
                        <a:rPr sz="9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Rules</a:t>
                      </a:r>
                      <a:r>
                        <a:rPr sz="9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        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Output</a:t>
                      </a:r>
                      <a:r>
                        <a:rPr sz="9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Files</a:t>
                      </a:r>
                      <a:endParaRPr sz="9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EBE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BE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BE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F9"/>
                    </a:solidFill>
                  </a:tcPr>
                </a:tc>
              </a:tr>
            </a:tbl>
          </a:graphicData>
        </a:graphic>
      </p:graphicFrame>
      <p:sp>
        <p:nvSpPr>
          <p:cNvPr id="160" name="rect 160"/>
          <p:cNvSpPr/>
          <p:nvPr/>
        </p:nvSpPr>
        <p:spPr>
          <a:xfrm>
            <a:off x="2118753" y="2838411"/>
            <a:ext cx="3571050" cy="187823"/>
          </a:xfrm>
          <a:prstGeom prst="rect">
            <a:avLst/>
          </a:prstGeom>
          <a:solidFill>
            <a:srgbClr val="3939B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2" name="textbox 162"/>
          <p:cNvSpPr/>
          <p:nvPr/>
        </p:nvSpPr>
        <p:spPr>
          <a:xfrm>
            <a:off x="2118753" y="1693684"/>
            <a:ext cx="3571240" cy="215265"/>
          </a:xfrm>
          <a:prstGeom prst="rect">
            <a:avLst/>
          </a:prstGeom>
          <a:solidFill>
            <a:srgbClr val="3939B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3000"/>
              </a:lnSpc>
            </a:pPr>
            <a:endParaRPr sz="2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60325" algn="l" rtl="0" eaLnBrk="0">
              <a:lnSpc>
                <a:spcPct val="91000"/>
              </a:lnSpc>
            </a:pPr>
            <a:r>
              <a:rPr sz="1100" kern="0" spc="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Generated</a:t>
            </a:r>
            <a:r>
              <a:rPr sz="1100" kern="0" spc="11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100" kern="0" spc="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Artifacts</a:t>
            </a:r>
            <a:r>
              <a:rPr sz="1100" kern="0" spc="18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100" kern="0" spc="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</a:t>
            </a: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per</a:t>
            </a:r>
            <a:r>
              <a:rPr sz="1100" kern="0" spc="13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entity)</a:t>
            </a:r>
            <a:endParaRPr sz="11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graphicFrame>
        <p:nvGraphicFramePr>
          <p:cNvPr id="164" name="table 164"/>
          <p:cNvGraphicFramePr>
            <a:graphicFrameLocks noGrp="1"/>
          </p:cNvGraphicFramePr>
          <p:nvPr/>
        </p:nvGraphicFramePr>
        <p:xfrm>
          <a:off x="2118753" y="1750615"/>
          <a:ext cx="3621405" cy="885190"/>
        </p:xfrm>
        <a:graphic>
          <a:graphicData uri="http://schemas.openxmlformats.org/drawingml/2006/table">
            <a:tbl>
              <a:tblPr/>
              <a:tblGrid>
                <a:gridCol w="3621405"/>
              </a:tblGrid>
              <a:tr h="1758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EBE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BE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BE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7092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EBE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BE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EBE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F9"/>
                    </a:solidFill>
                  </a:tcPr>
                </a:tc>
              </a:tr>
            </a:tbl>
          </a:graphicData>
        </a:graphic>
      </p:graphicFrame>
      <p:sp>
        <p:nvSpPr>
          <p:cNvPr id="166" name="textbox 166"/>
          <p:cNvSpPr/>
          <p:nvPr/>
        </p:nvSpPr>
        <p:spPr>
          <a:xfrm>
            <a:off x="2166850" y="1944984"/>
            <a:ext cx="3187700" cy="10674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3970" algn="l" rtl="0" eaLnBrk="0">
              <a:lnSpc>
                <a:spcPct val="93000"/>
              </a:lnSpc>
            </a:pP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Backend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</a:t>
            </a:r>
            <a:r>
              <a:rPr sz="900" kern="0" spc="2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SQL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DDL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+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ORM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Model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+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Pydantic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chema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3000"/>
              </a:lnSpc>
              <a:spcBef>
                <a:spcPts val="190"/>
              </a:spcBef>
            </a:pP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(Base/Create/Update/Response)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+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5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CRUD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Endpoints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indent="1270" algn="l" rtl="0" eaLnBrk="0">
              <a:lnSpc>
                <a:spcPct val="104000"/>
              </a:lnSpc>
              <a:spcBef>
                <a:spcPts val="170"/>
              </a:spcBef>
            </a:pP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Frontend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ListPage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search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+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table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+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delete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)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+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FormPage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(create/edit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with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validation)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+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API</a:t>
            </a:r>
            <a:r>
              <a:rPr sz="900" kern="0" spc="1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Client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9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37000"/>
              </a:lnSpc>
            </a:pPr>
            <a:endParaRPr sz="2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5875" algn="l" rtl="0" eaLnBrk="0">
              <a:lnSpc>
                <a:spcPct val="73000"/>
              </a:lnSpc>
              <a:spcBef>
                <a:spcPts val="0"/>
              </a:spcBef>
            </a:pPr>
            <a:r>
              <a:rPr sz="1100" kern="0" spc="-3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LLM</a:t>
            </a:r>
            <a:r>
              <a:rPr sz="1100" kern="0" spc="27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100" kern="0" spc="-3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Fill</a:t>
            </a:r>
            <a:r>
              <a:rPr sz="1100" kern="0" spc="20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100" kern="0" spc="-3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Markers</a:t>
            </a:r>
            <a:r>
              <a:rPr sz="1100" kern="0" spc="17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100" kern="0" spc="-3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</a:t>
            </a:r>
            <a:r>
              <a:rPr sz="1100" kern="0" spc="20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100" kern="0" spc="-3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Routes</a:t>
            </a:r>
            <a:endParaRPr sz="11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8" name="textbox 168"/>
          <p:cNvSpPr/>
          <p:nvPr/>
        </p:nvSpPr>
        <p:spPr>
          <a:xfrm>
            <a:off x="0" y="0"/>
            <a:ext cx="5760085" cy="350520"/>
          </a:xfrm>
          <a:prstGeom prst="rect">
            <a:avLst/>
          </a:prstGeom>
          <a:solidFill>
            <a:srgbClr val="4D4D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</a:pPr>
            <a:endParaRPr sz="8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4460" algn="l" rtl="0" eaLnBrk="0">
              <a:lnSpc>
                <a:spcPct val="74000"/>
              </a:lnSpc>
              <a:spcBef>
                <a:spcPts val="5"/>
              </a:spcBef>
            </a:pPr>
            <a:r>
              <a:rPr sz="1400" kern="0" spc="-7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Domain</a:t>
            </a:r>
            <a:r>
              <a:rPr sz="1400" kern="0" spc="24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400" kern="0" spc="-7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Model</a:t>
            </a:r>
            <a:r>
              <a:rPr sz="1400" kern="0" spc="13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400" kern="0" spc="-7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&amp;</a:t>
            </a:r>
            <a:r>
              <a:rPr sz="1400" kern="0" spc="18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400" kern="0" spc="-7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Code</a:t>
            </a:r>
            <a:r>
              <a:rPr sz="1400" kern="0" spc="17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400" kern="0" spc="-7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Generation</a:t>
            </a:r>
            <a:endParaRPr sz="14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70" name="picture 17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118754" y="3023705"/>
            <a:ext cx="3598563" cy="82179"/>
          </a:xfrm>
          <a:prstGeom prst="rect">
            <a:avLst/>
          </a:prstGeom>
        </p:spPr>
      </p:pic>
      <p:pic>
        <p:nvPicPr>
          <p:cNvPr id="172" name="picture 17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118753" y="2895338"/>
            <a:ext cx="3621851" cy="344660"/>
          </a:xfrm>
          <a:prstGeom prst="rect">
            <a:avLst/>
          </a:prstGeom>
        </p:spPr>
      </p:pic>
      <p:graphicFrame>
        <p:nvGraphicFramePr>
          <p:cNvPr id="174" name="table 174"/>
          <p:cNvGraphicFramePr>
            <a:graphicFrameLocks noGrp="1"/>
          </p:cNvGraphicFramePr>
          <p:nvPr/>
        </p:nvGraphicFramePr>
        <p:xfrm>
          <a:off x="2506159" y="1019471"/>
          <a:ext cx="2799715" cy="431165"/>
        </p:xfrm>
        <a:graphic>
          <a:graphicData uri="http://schemas.openxmlformats.org/drawingml/2006/table">
            <a:tbl>
              <a:tblPr/>
              <a:tblGrid>
                <a:gridCol w="556260"/>
                <a:gridCol w="428625"/>
                <a:gridCol w="1814830"/>
              </a:tblGrid>
              <a:tr h="139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39000"/>
                        </a:lnSpc>
                      </a:pPr>
                      <a:endParaRPr sz="1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algn="l" rtl="0" eaLnBrk="0">
                        <a:lnSpc>
                          <a:spcPct val="75000"/>
                        </a:lnSpc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Small</a:t>
                      </a:r>
                      <a:endParaRPr sz="9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59385" algn="l" rtl="0" eaLnBrk="0">
                        <a:lnSpc>
                          <a:spcPct val="93000"/>
                        </a:lnSpc>
                        <a:spcBef>
                          <a:spcPts val="0"/>
                        </a:spcBef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3</a:t>
                      </a:r>
                      <a:endParaRPr sz="9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116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205740" algn="l" rtl="0" eaLnBrk="0">
                        <a:lnSpc>
                          <a:spcPct val="93000"/>
                        </a:lnSpc>
                        <a:spcBef>
                          <a:spcPts val="0"/>
                        </a:spcBef>
                      </a:pP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2        5</a:t>
                      </a:r>
                      <a:r>
                        <a:rPr sz="900" kern="0" spc="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backend</a:t>
                      </a:r>
                      <a:r>
                        <a:rPr sz="9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+</a:t>
                      </a:r>
                      <a:r>
                        <a:rPr sz="9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8</a:t>
                      </a:r>
                      <a:r>
                        <a:rPr sz="9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frontend</a:t>
                      </a:r>
                      <a:endParaRPr sz="9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116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</a:pPr>
                      <a:endParaRPr sz="1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6985" algn="l" rtl="0" eaLnBrk="0">
                        <a:lnSpc>
                          <a:spcPct val="74000"/>
                        </a:lnSpc>
                      </a:pP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Medium</a:t>
                      </a:r>
                      <a:endParaRPr sz="9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0000"/>
                        </a:lnSpc>
                      </a:pPr>
                      <a:endParaRPr sz="1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59385" algn="l" rtl="0" eaLnBrk="0">
                        <a:lnSpc>
                          <a:spcPct val="93000"/>
                        </a:lnSpc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6</a:t>
                      </a:r>
                      <a:endParaRPr sz="9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0000"/>
                        </a:lnSpc>
                      </a:pPr>
                      <a:endParaRPr sz="1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algn="r" rtl="0" eaLnBrk="0">
                        <a:lnSpc>
                          <a:spcPct val="93000"/>
                        </a:lnSpc>
                      </a:pP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6       5</a:t>
                      </a:r>
                      <a:r>
                        <a:rPr sz="9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backend</a:t>
                      </a:r>
                      <a:r>
                        <a:rPr sz="9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+</a:t>
                      </a:r>
                      <a:r>
                        <a:rPr sz="9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14</a:t>
                      </a:r>
                      <a:r>
                        <a:rPr sz="9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frontend</a:t>
                      </a:r>
                      <a:endParaRPr sz="9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3000"/>
                        </a:lnSpc>
                      </a:pPr>
                      <a:endParaRPr sz="1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5715" algn="l" rtl="0" eaLnBrk="0">
                        <a:lnSpc>
                          <a:spcPct val="88000"/>
                        </a:lnSpc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Large</a:t>
                      </a:r>
                      <a:endParaRPr sz="9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3000"/>
                        </a:lnSpc>
                      </a:pPr>
                      <a:endParaRPr sz="1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33985" algn="l" rtl="0" eaLnBrk="0">
                        <a:lnSpc>
                          <a:spcPct val="88000"/>
                        </a:lnSpc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11</a:t>
                      </a:r>
                      <a:endParaRPr sz="9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3000"/>
                        </a:lnSpc>
                      </a:pPr>
                      <a:endParaRPr sz="1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algn="r" rtl="0" eaLnBrk="0">
                        <a:lnSpc>
                          <a:spcPct val="88000"/>
                        </a:lnSpc>
                      </a:pP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10      5</a:t>
                      </a:r>
                      <a:r>
                        <a:rPr sz="9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backend</a:t>
                      </a:r>
                      <a:r>
                        <a:rPr sz="9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+</a:t>
                      </a:r>
                      <a:r>
                        <a:rPr sz="9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24</a:t>
                      </a:r>
                      <a:r>
                        <a:rPr sz="9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frontend</a:t>
                      </a:r>
                      <a:endParaRPr sz="9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76" name="rect 176"/>
          <p:cNvSpPr/>
          <p:nvPr/>
        </p:nvSpPr>
        <p:spPr>
          <a:xfrm>
            <a:off x="2126539" y="3138843"/>
            <a:ext cx="3555441" cy="101155"/>
          </a:xfrm>
          <a:prstGeom prst="rect">
            <a:avLst/>
          </a:prstGeom>
          <a:solidFill>
            <a:srgbClr val="F9F9F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8" name="textbox 178"/>
          <p:cNvSpPr/>
          <p:nvPr/>
        </p:nvSpPr>
        <p:spPr>
          <a:xfrm>
            <a:off x="2113839" y="3126143"/>
            <a:ext cx="3592195" cy="1022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ts val="600"/>
              </a:lnSpc>
            </a:pP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                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                                                                    </a:t>
            </a:r>
            <a:r>
              <a:rPr sz="700" kern="0" spc="10" baseline="-170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5</a:t>
            </a:r>
            <a:r>
              <a:rPr sz="4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700" kern="0" spc="10" baseline="-170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/</a:t>
            </a:r>
            <a:r>
              <a:rPr sz="4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700" kern="0" spc="10" baseline="-170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r>
              <a:rPr sz="700" kern="0" spc="10" baseline="-170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</a:t>
            </a:r>
            <a:endParaRPr sz="700" baseline="-170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0" name="textbox 180"/>
          <p:cNvSpPr/>
          <p:nvPr/>
        </p:nvSpPr>
        <p:spPr>
          <a:xfrm>
            <a:off x="2165683" y="3178087"/>
            <a:ext cx="2190750" cy="844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400" kern="0" spc="1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@</a:t>
            </a:r>
            <a:r>
              <a:rPr sz="400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400" kern="0" spc="1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6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router_3.</a:t>
            </a:r>
            <a:r>
              <a:rPr sz="4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6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400" kern="0" spc="1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6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post</a:t>
            </a:r>
            <a:r>
              <a:rPr sz="400" kern="0" spc="1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("/",  response_model=Enro</a:t>
            </a:r>
            <a:r>
              <a:rPr sz="400" kern="0" spc="1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llmentResponse)</a:t>
            </a:r>
            <a:endParaRPr sz="4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2" name="path 182"/>
          <p:cNvSpPr/>
          <p:nvPr/>
        </p:nvSpPr>
        <p:spPr>
          <a:xfrm>
            <a:off x="2449982" y="1487213"/>
            <a:ext cx="2908541" cy="10121"/>
          </a:xfrm>
          <a:custGeom>
            <a:avLst/>
            <a:gdLst/>
            <a:ahLst/>
            <a:cxnLst/>
            <a:rect l="0" t="0" r="0" b="0"/>
            <a:pathLst>
              <a:path w="4580" h="15">
                <a:moveTo>
                  <a:pt x="0" y="7"/>
                </a:moveTo>
                <a:lnTo>
                  <a:pt x="4580" y="7"/>
                </a:lnTo>
              </a:path>
            </a:pathLst>
          </a:custGeom>
          <a:noFill/>
          <a:ln w="10121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4" name="path 184"/>
          <p:cNvSpPr/>
          <p:nvPr/>
        </p:nvSpPr>
        <p:spPr>
          <a:xfrm>
            <a:off x="2449982" y="966342"/>
            <a:ext cx="2908541" cy="6324"/>
          </a:xfrm>
          <a:custGeom>
            <a:avLst/>
            <a:gdLst/>
            <a:ahLst/>
            <a:cxnLst/>
            <a:rect l="0" t="0" r="0" b="0"/>
            <a:pathLst>
              <a:path w="4580" h="9">
                <a:moveTo>
                  <a:pt x="0" y="4"/>
                </a:moveTo>
                <a:lnTo>
                  <a:pt x="4580" y="4"/>
                </a:lnTo>
              </a:path>
            </a:pathLst>
          </a:custGeom>
          <a:noFill/>
          <a:ln w="6324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6" name="path 186"/>
          <p:cNvSpPr/>
          <p:nvPr/>
        </p:nvSpPr>
        <p:spPr>
          <a:xfrm>
            <a:off x="2169554" y="3138843"/>
            <a:ext cx="3512413" cy="5054"/>
          </a:xfrm>
          <a:custGeom>
            <a:avLst/>
            <a:gdLst/>
            <a:ahLst/>
            <a:cxnLst/>
            <a:rect l="0" t="0" r="0" b="0"/>
            <a:pathLst>
              <a:path w="5531" h="7">
                <a:moveTo>
                  <a:pt x="0" y="3"/>
                </a:moveTo>
                <a:lnTo>
                  <a:pt x="5463" y="3"/>
                </a:lnTo>
                <a:moveTo>
                  <a:pt x="5463" y="3"/>
                </a:moveTo>
                <a:lnTo>
                  <a:pt x="5531" y="3"/>
                </a:lnTo>
              </a:path>
            </a:pathLst>
          </a:custGeom>
          <a:noFill/>
          <a:ln w="5054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8" name="path 188"/>
          <p:cNvSpPr/>
          <p:nvPr/>
        </p:nvSpPr>
        <p:spPr>
          <a:xfrm>
            <a:off x="2126539" y="3181858"/>
            <a:ext cx="5054" cy="58140"/>
          </a:xfrm>
          <a:custGeom>
            <a:avLst/>
            <a:gdLst/>
            <a:ahLst/>
            <a:cxnLst/>
            <a:rect l="0" t="0" r="0" b="0"/>
            <a:pathLst>
              <a:path w="7" h="91">
                <a:moveTo>
                  <a:pt x="3" y="119"/>
                </a:moveTo>
                <a:lnTo>
                  <a:pt x="3" y="0"/>
                </a:lnTo>
              </a:path>
            </a:pathLst>
          </a:custGeom>
          <a:noFill/>
          <a:ln w="5054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rect 190"/>
          <p:cNvSpPr/>
          <p:nvPr/>
        </p:nvSpPr>
        <p:spPr>
          <a:xfrm>
            <a:off x="70243" y="464743"/>
            <a:ext cx="2965274" cy="198367"/>
          </a:xfrm>
          <a:prstGeom prst="rect">
            <a:avLst/>
          </a:prstGeom>
          <a:solidFill>
            <a:srgbClr val="3939B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2" name="textbox 192"/>
          <p:cNvSpPr/>
          <p:nvPr/>
        </p:nvSpPr>
        <p:spPr>
          <a:xfrm>
            <a:off x="57543" y="480491"/>
            <a:ext cx="4403090" cy="179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1000"/>
              </a:lnSpc>
              <a:tabLst>
                <a:tab pos="67310" algn="l"/>
              </a:tabLst>
            </a:pPr>
            <a:r>
              <a:rPr sz="1100" kern="0" spc="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Algorithm                                                               </a:t>
            </a:r>
            <a:r>
              <a:rPr sz="1100" kern="0" spc="-2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Key  Design  Principles</a:t>
            </a:r>
            <a:endParaRPr sz="11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94" name="picture 1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70243" y="660578"/>
            <a:ext cx="5626549" cy="40487"/>
          </a:xfrm>
          <a:prstGeom prst="rect">
            <a:avLst/>
          </a:prstGeom>
        </p:spPr>
      </p:pic>
      <p:pic>
        <p:nvPicPr>
          <p:cNvPr id="196" name="picture 1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0243" y="464743"/>
            <a:ext cx="5670344" cy="2775254"/>
          </a:xfrm>
          <a:prstGeom prst="rect">
            <a:avLst/>
          </a:prstGeom>
        </p:spPr>
      </p:pic>
      <p:graphicFrame>
        <p:nvGraphicFramePr>
          <p:cNvPr id="198" name="table 198"/>
          <p:cNvGraphicFramePr>
            <a:graphicFrameLocks noGrp="1"/>
          </p:cNvGraphicFramePr>
          <p:nvPr/>
        </p:nvGraphicFramePr>
        <p:xfrm>
          <a:off x="78028" y="775716"/>
          <a:ext cx="2949575" cy="2363470"/>
        </p:xfrm>
        <a:graphic>
          <a:graphicData uri="http://schemas.openxmlformats.org/drawingml/2006/table">
            <a:tbl>
              <a:tblPr>
                <a:solidFill>
                  <a:srgbClr val="F9F9F9"/>
                </a:solidFill>
              </a:tblPr>
              <a:tblGrid>
                <a:gridCol w="2949575"/>
              </a:tblGrid>
              <a:tr h="23602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50165" algn="l" rtl="0" eaLnBrk="0">
                        <a:lnSpc>
                          <a:spcPct val="97000"/>
                        </a:lnSpc>
                      </a:pPr>
                      <a:r>
                        <a:rPr sz="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def</a:t>
                      </a:r>
                      <a:r>
                        <a:rPr sz="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feedback_loop(m</a:t>
                      </a:r>
                      <a:r>
                        <a:rPr sz="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odel ,</a:t>
                      </a:r>
                      <a:r>
                        <a:rPr sz="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code_dir ,</a:t>
                      </a:r>
                      <a:r>
                        <a:rPr sz="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max_iter</a:t>
                      </a:r>
                      <a:r>
                        <a:rPr sz="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=3):</a:t>
                      </a: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211455" algn="l" rtl="0" eaLnBrk="0">
                        <a:lnSpc>
                          <a:spcPct val="97000"/>
                        </a:lnSpc>
                        <a:spcBef>
                          <a:spcPts val="130"/>
                        </a:spcBef>
                      </a:pPr>
                      <a:r>
                        <a:rPr sz="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for</a:t>
                      </a:r>
                      <a:r>
                        <a:rPr sz="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i</a:t>
                      </a:r>
                      <a:r>
                        <a:rPr sz="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in</a:t>
                      </a:r>
                      <a:r>
                        <a:rPr sz="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range(1,  max_iter</a:t>
                      </a:r>
                      <a:r>
                        <a:rPr sz="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+</a:t>
                      </a:r>
                      <a:r>
                        <a:rPr sz="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1):</a:t>
                      </a: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370840" algn="l" rtl="0" eaLnBrk="0">
                        <a:lnSpc>
                          <a:spcPct val="97000"/>
                        </a:lnSpc>
                        <a:spcBef>
                          <a:spcPts val="130"/>
                        </a:spcBef>
                      </a:pPr>
                      <a:r>
                        <a:rPr sz="4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#</a:t>
                      </a:r>
                      <a:r>
                        <a:rPr sz="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1 .</a:t>
                      </a:r>
                      <a:r>
                        <a:rPr sz="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Check</a:t>
                      </a:r>
                      <a:r>
                        <a:rPr sz="4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code</a:t>
                      </a:r>
                      <a:r>
                        <a:rPr sz="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for</a:t>
                      </a:r>
                      <a:r>
                        <a:rPr sz="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errors</a:t>
                      </a: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374015" algn="l" rtl="0" eaLnBrk="0">
                        <a:lnSpc>
                          <a:spcPct val="97000"/>
                        </a:lnSpc>
                        <a:spcBef>
                          <a:spcPts val="130"/>
                        </a:spcBef>
                      </a:pPr>
                      <a:r>
                        <a:rPr sz="4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file_errors  =  {}</a:t>
                      </a: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372745" algn="l" rtl="0" eaLnBrk="0">
                        <a:lnSpc>
                          <a:spcPct val="97000"/>
                        </a:lnSpc>
                        <a:spcBef>
                          <a:spcPts val="130"/>
                        </a:spcBef>
                      </a:pPr>
                      <a:r>
                        <a:rPr sz="4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for  f</a:t>
                      </a:r>
                      <a:r>
                        <a:rPr sz="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in</a:t>
                      </a:r>
                      <a:r>
                        <a:rPr sz="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cod</a:t>
                      </a:r>
                      <a:r>
                        <a:rPr sz="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e_dir .</a:t>
                      </a:r>
                      <a:r>
                        <a:rPr sz="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glob ("**/*</a:t>
                      </a:r>
                      <a:r>
                        <a:rPr sz="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.</a:t>
                      </a:r>
                      <a:r>
                        <a:rPr sz="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py"):</a:t>
                      </a: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532130" algn="l" rtl="0" eaLnBrk="0">
                        <a:lnSpc>
                          <a:spcPts val="595"/>
                        </a:lnSpc>
                      </a:pPr>
                      <a:r>
                        <a:rPr sz="4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  <a:hlinkClick r:id="rId3">
                            <a:extLst>
                              <a:ext uri="{DAF060AB-1E55-43B9-8AAB-6FB025537F2F}">
                                <wpsdc:hlinkClr xmlns:wpsdc="http://www.wps.cn/officeDocument/2017/drawingmlCustomData" val="000000"/>
                                <wpsdc:folHlinkClr xmlns:wpsdc="http://www.wps.cn/officeDocument/2017/drawingmlCustomData" val="000000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r</a:t>
                      </a:r>
                      <a:r>
                        <a:rPr sz="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  <a:hlinkClick r:id="rId3">
                            <a:extLst>
                              <a:ext uri="{DAF060AB-1E55-43B9-8AAB-6FB025537F2F}">
                                <wpsdc:hlinkClr xmlns:wpsdc="http://www.wps.cn/officeDocument/2017/drawingmlCustomData" val="000000"/>
                                <wpsdc:folHlinkClr xmlns:wpsdc="http://www.wps.cn/officeDocument/2017/drawingmlCustomData" val="000000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  </a:t>
                      </a:r>
                      <a:r>
                        <a:rPr sz="4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  <a:hlinkClick r:id="rId3">
                            <a:extLst>
                              <a:ext uri="{DAF060AB-1E55-43B9-8AAB-6FB025537F2F}">
                                <wpsdc:hlinkClr xmlns:wpsdc="http://www.wps.cn/officeDocument/2017/drawingmlCustomData" val="000000"/>
                                <wpsdc:folHlinkClr xmlns:wpsdc="http://www.wps.cn/officeDocument/2017/drawingmlCustomData" val="000000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=</a:t>
                      </a:r>
                      <a:r>
                        <a:rPr sz="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  <a:hlinkClick r:id="rId3">
                            <a:extLst>
                              <a:ext uri="{DAF060AB-1E55-43B9-8AAB-6FB025537F2F}">
                                <wpsdc:hlinkClr xmlns:wpsdc="http://www.wps.cn/officeDocument/2017/drawingmlCustomData" val="000000"/>
                                <wpsdc:folHlinkClr xmlns:wpsdc="http://www.wps.cn/officeDocument/2017/drawingmlCustomData" val="000000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  </a:t>
                      </a:r>
                      <a:r>
                        <a:rPr sz="4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  <a:hlinkClick r:id="rId3">
                            <a:extLst>
                              <a:ext uri="{DAF060AB-1E55-43B9-8AAB-6FB025537F2F}">
                                <wpsdc:hlinkClr xmlns:wpsdc="http://www.wps.cn/officeDocument/2017/drawingmlCustomData" val="000000"/>
                                <wpsdc:folHlinkClr xmlns:wpsdc="http://www.wps.cn/officeDocument/2017/drawingmlCustomData" val="000000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subprocess.</a:t>
                      </a:r>
                      <a:r>
                        <a:rPr sz="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  <a:hlinkClick r:id="rId3">
                            <a:extLst>
                              <a:ext uri="{DAF060AB-1E55-43B9-8AAB-6FB025537F2F}">
                                <wpsdc:hlinkClr xmlns:wpsdc="http://www.wps.cn/officeDocument/2017/drawingmlCustomData" val="000000"/>
                                <wpsdc:folHlinkClr xmlns:wpsdc="http://www.wps.cn/officeDocument/2017/drawingmlCustomData" val="000000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4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  <a:hlinkClick r:id="rId3">
                            <a:extLst>
                              <a:ext uri="{DAF060AB-1E55-43B9-8AAB-6FB025537F2F}">
                                <wpsdc:hlinkClr xmlns:wpsdc="http://www.wps.cn/officeDocument/2017/drawingmlCustomData" val="000000"/>
                                <wpsdc:folHlinkClr xmlns:wpsdc="http://www.wps.cn/officeDocument/2017/drawingmlCustomData" val="000000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run</a:t>
                      </a:r>
                      <a:r>
                        <a:rPr sz="4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(</a:t>
                      </a: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705485" algn="l" rtl="0" eaLnBrk="0">
                        <a:lnSpc>
                          <a:spcPct val="97000"/>
                        </a:lnSpc>
                        <a:spcBef>
                          <a:spcPts val="130"/>
                        </a:spcBef>
                      </a:pPr>
                      <a:r>
                        <a:rPr sz="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[sys .</a:t>
                      </a:r>
                      <a:r>
                        <a:rPr sz="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executable ,</a:t>
                      </a:r>
                      <a:r>
                        <a:rPr sz="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"</a:t>
                      </a:r>
                      <a:r>
                        <a:rPr sz="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-m",</a:t>
                      </a:r>
                      <a:r>
                        <a:rPr sz="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"py_compile",  f</a:t>
                      </a:r>
                      <a:r>
                        <a:rPr sz="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],</a:t>
                      </a: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699135" algn="l" rtl="0" eaLnBrk="0">
                        <a:lnSpc>
                          <a:spcPts val="595"/>
                        </a:lnSpc>
                      </a:pPr>
                      <a:r>
                        <a:rPr sz="4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capture_out</a:t>
                      </a:r>
                      <a:r>
                        <a:rPr sz="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put=True)</a:t>
                      </a: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535940" algn="l" rtl="0" eaLnBrk="0">
                        <a:lnSpc>
                          <a:spcPct val="97000"/>
                        </a:lnSpc>
                        <a:spcBef>
                          <a:spcPts val="130"/>
                        </a:spcBef>
                      </a:pPr>
                      <a:r>
                        <a:rPr sz="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if</a:t>
                      </a:r>
                      <a:r>
                        <a:rPr sz="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r .</a:t>
                      </a:r>
                      <a:r>
                        <a:rPr sz="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return</a:t>
                      </a:r>
                      <a:r>
                        <a:rPr sz="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code</a:t>
                      </a:r>
                      <a:r>
                        <a:rPr sz="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 </a:t>
                      </a:r>
                      <a:r>
                        <a:rPr sz="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!</a:t>
                      </a:r>
                      <a:r>
                        <a:rPr sz="4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=  0:</a:t>
                      </a: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696595" algn="l" rtl="0" eaLnBrk="0">
                        <a:lnSpc>
                          <a:spcPct val="97000"/>
                        </a:lnSpc>
                        <a:spcBef>
                          <a:spcPts val="130"/>
                        </a:spcBef>
                      </a:pPr>
                      <a:r>
                        <a:rPr sz="4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file_errors[f]</a:t>
                      </a:r>
                      <a:r>
                        <a:rPr sz="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=</a:t>
                      </a:r>
                      <a:r>
                        <a:rPr sz="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 </a:t>
                      </a:r>
                      <a:r>
                        <a:rPr sz="4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[r</a:t>
                      </a:r>
                      <a:r>
                        <a:rPr sz="4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4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.</a:t>
                      </a:r>
                      <a:r>
                        <a:rPr sz="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4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</a:t>
                      </a:r>
                      <a:r>
                        <a:rPr sz="4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tderr]</a:t>
                      </a: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370840" algn="l" rtl="0" eaLnBrk="0">
                        <a:lnSpc>
                          <a:spcPct val="97000"/>
                        </a:lnSpc>
                        <a:spcBef>
                          <a:spcPts val="730"/>
                        </a:spcBef>
                      </a:pPr>
                      <a:r>
                        <a:rPr sz="4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#</a:t>
                      </a:r>
                      <a:r>
                        <a:rPr sz="4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2 .</a:t>
                      </a:r>
                      <a:r>
                        <a:rPr sz="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Import</a:t>
                      </a:r>
                      <a:r>
                        <a:rPr sz="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check</a:t>
                      </a: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370840" algn="l" rtl="0" eaLnBrk="0">
                        <a:lnSpc>
                          <a:spcPct val="97000"/>
                        </a:lnSpc>
                        <a:spcBef>
                          <a:spcPts val="130"/>
                        </a:spcBef>
                      </a:pPr>
                      <a:r>
                        <a:rPr sz="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  <a:hlinkClick r:id="rId3">
                            <a:extLst>
                              <a:ext uri="{DAF060AB-1E55-43B9-8AAB-6FB025537F2F}">
                                <wpsdc:hlinkClr xmlns:wpsdc="http://www.wps.cn/officeDocument/2017/drawingmlCustomData" val="000000"/>
                                <wpsdc:folHlinkClr xmlns:wpsdc="http://www.wps.cn/officeDocument/2017/drawingmlCustomData" val="000000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r  =</a:t>
                      </a:r>
                      <a:r>
                        <a:rPr sz="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  <a:hlinkClick r:id="rId3">
                            <a:extLst>
                              <a:ext uri="{DAF060AB-1E55-43B9-8AAB-6FB025537F2F}">
                                <wpsdc:hlinkClr xmlns:wpsdc="http://www.wps.cn/officeDocument/2017/drawingmlCustomData" val="000000"/>
                                <wpsdc:folHlinkClr xmlns:wpsdc="http://www.wps.cn/officeDocument/2017/drawingmlCustomData" val="000000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  </a:t>
                      </a:r>
                      <a:r>
                        <a:rPr sz="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  <a:hlinkClick r:id="rId3">
                            <a:extLst>
                              <a:ext uri="{DAF060AB-1E55-43B9-8AAB-6FB025537F2F}">
                                <wpsdc:hlinkClr xmlns:wpsdc="http://www.wps.cn/officeDocument/2017/drawingmlCustomData" val="000000"/>
                                <wpsdc:folHlinkClr xmlns:wpsdc="http://www.wps.cn/officeDocument/2017/drawingmlCustomData" val="000000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subprocess.</a:t>
                      </a:r>
                      <a:r>
                        <a:rPr sz="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  <a:hlinkClick r:id="rId3">
                            <a:extLst>
                              <a:ext uri="{DAF060AB-1E55-43B9-8AAB-6FB025537F2F}">
                                <wpsdc:hlinkClr xmlns:wpsdc="http://www.wps.cn/officeDocument/2017/drawingmlCustomData" val="000000"/>
                                <wpsdc:folHlinkClr xmlns:wpsdc="http://www.wps.cn/officeDocument/2017/drawingmlCustomData" val="000000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  <a:hlinkClick r:id="rId3">
                            <a:extLst>
                              <a:ext uri="{DAF060AB-1E55-43B9-8AAB-6FB025537F2F}">
                                <wpsdc:hlinkClr xmlns:wpsdc="http://www.wps.cn/officeDocument/2017/drawingmlCustomData" val="000000"/>
                                <wpsdc:folHlinkClr xmlns:wpsdc="http://www.wps.cn/officeDocument/2017/drawingmlCustomData" val="000000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run</a:t>
                      </a:r>
                      <a:r>
                        <a:rPr sz="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([sys.</a:t>
                      </a:r>
                      <a:r>
                        <a:rPr sz="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executable</a:t>
                      </a:r>
                      <a:r>
                        <a:rPr sz="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,</a:t>
                      </a:r>
                      <a:r>
                        <a:rPr sz="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"-c",</a:t>
                      </a: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532765" algn="l" rtl="0" eaLnBrk="0">
                        <a:lnSpc>
                          <a:spcPct val="97000"/>
                        </a:lnSpc>
                        <a:spcBef>
                          <a:spcPts val="130"/>
                        </a:spcBef>
                      </a:pPr>
                      <a:r>
                        <a:rPr sz="4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f"sys</a:t>
                      </a:r>
                      <a:r>
                        <a:rPr sz="4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4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.</a:t>
                      </a:r>
                      <a:r>
                        <a:rPr sz="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4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path</a:t>
                      </a:r>
                      <a:r>
                        <a:rPr sz="4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4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.</a:t>
                      </a:r>
                      <a:r>
                        <a:rPr sz="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4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insert(0,’{</a:t>
                      </a:r>
                      <a:r>
                        <a:rPr sz="4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code_dir}’);"</a:t>
                      </a: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537845" algn="l" rtl="0" eaLnBrk="0">
                        <a:lnSpc>
                          <a:spcPct val="97000"/>
                        </a:lnSpc>
                        <a:spcBef>
                          <a:spcPts val="130"/>
                        </a:spcBef>
                      </a:pPr>
                      <a:r>
                        <a:rPr sz="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"from  main</a:t>
                      </a:r>
                      <a:r>
                        <a:rPr sz="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import</a:t>
                      </a:r>
                      <a:r>
                        <a:rPr sz="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app"],</a:t>
                      </a:r>
                      <a:r>
                        <a:rPr sz="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capture_output=Tru</a:t>
                      </a:r>
                      <a:r>
                        <a:rPr sz="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e)</a:t>
                      </a: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374650" algn="l" rtl="0" eaLnBrk="0">
                        <a:lnSpc>
                          <a:spcPts val="595"/>
                        </a:lnSpc>
                      </a:pPr>
                      <a:r>
                        <a:rPr sz="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if</a:t>
                      </a:r>
                      <a:r>
                        <a:rPr sz="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r .</a:t>
                      </a:r>
                      <a:r>
                        <a:rPr sz="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return</a:t>
                      </a:r>
                      <a:r>
                        <a:rPr sz="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code</a:t>
                      </a:r>
                      <a:r>
                        <a:rPr sz="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 </a:t>
                      </a:r>
                      <a:r>
                        <a:rPr sz="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!</a:t>
                      </a:r>
                      <a:r>
                        <a:rPr sz="4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=  0:</a:t>
                      </a: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535305" algn="l" rtl="0" eaLnBrk="0">
                        <a:lnSpc>
                          <a:spcPct val="97000"/>
                        </a:lnSpc>
                        <a:spcBef>
                          <a:spcPts val="130"/>
                        </a:spcBef>
                      </a:pPr>
                      <a:r>
                        <a:rPr sz="4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file_errors["</a:t>
                      </a:r>
                      <a:r>
                        <a:rPr sz="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4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  <a:hlinkClick r:id="rId4">
                            <a:extLst>
                              <a:ext uri="{DAF060AB-1E55-43B9-8AAB-6FB025537F2F}">
                                <wpsdc:hlinkClr xmlns:wpsdc="http://www.wps.cn/officeDocument/2017/drawingmlCustomData" val="000000"/>
                                <wpsdc:folHlinkClr xmlns:wpsdc="http://www.wps.cn/officeDocument/2017/drawingmlCustomData" val="000000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main.</a:t>
                      </a:r>
                      <a:r>
                        <a:rPr sz="4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  <a:hlinkClick r:id="rId4">
                            <a:extLst>
                              <a:ext uri="{DAF060AB-1E55-43B9-8AAB-6FB025537F2F}">
                                <wpsdc:hlinkClr xmlns:wpsdc="http://www.wps.cn/officeDocument/2017/drawingmlCustomData" val="000000"/>
                                <wpsdc:folHlinkClr xmlns:wpsdc="http://www.wps.cn/officeDocument/2017/drawingmlCustomData" val="000000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4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  <a:hlinkClick r:id="rId4">
                            <a:extLst>
                              <a:ext uri="{DAF060AB-1E55-43B9-8AAB-6FB025537F2F}">
                                <wpsdc:hlinkClr xmlns:wpsdc="http://www.wps.cn/officeDocument/2017/drawingmlCustomData" val="000000"/>
                                <wpsdc:folHlinkClr xmlns:wpsdc="http://www.wps.cn/officeDocument/2017/drawingmlCustomData" val="000000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py</a:t>
                      </a:r>
                      <a:r>
                        <a:rPr sz="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4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"]</a:t>
                      </a:r>
                      <a:r>
                        <a:rPr sz="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=</a:t>
                      </a:r>
                      <a:r>
                        <a:rPr sz="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 </a:t>
                      </a:r>
                      <a:r>
                        <a:rPr sz="4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[r.</a:t>
                      </a:r>
                      <a:r>
                        <a:rPr sz="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4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stde</a:t>
                      </a:r>
                      <a:r>
                        <a:rPr sz="4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rr]</a:t>
                      </a: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370840" algn="l" rtl="0" eaLnBrk="0">
                        <a:lnSpc>
                          <a:spcPct val="97000"/>
                        </a:lnSpc>
                        <a:spcBef>
                          <a:spcPts val="730"/>
                        </a:spcBef>
                      </a:pPr>
                      <a:r>
                        <a:rPr sz="4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#</a:t>
                      </a:r>
                      <a:r>
                        <a:rPr sz="4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3 .</a:t>
                      </a:r>
                      <a:r>
                        <a:rPr sz="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Success?</a:t>
                      </a: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374650" algn="l" rtl="0" eaLnBrk="0">
                        <a:lnSpc>
                          <a:spcPct val="97000"/>
                        </a:lnSpc>
                        <a:spcBef>
                          <a:spcPts val="130"/>
                        </a:spcBef>
                      </a:pPr>
                      <a:r>
                        <a:rPr sz="4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if</a:t>
                      </a:r>
                      <a:r>
                        <a:rPr sz="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not</a:t>
                      </a:r>
                      <a:r>
                        <a:rPr sz="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file_errors:</a:t>
                      </a: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534035" algn="l" rtl="0" eaLnBrk="0">
                        <a:lnSpc>
                          <a:spcPct val="97000"/>
                        </a:lnSpc>
                        <a:spcBef>
                          <a:spcPts val="130"/>
                        </a:spcBef>
                      </a:pPr>
                      <a:r>
                        <a:rPr sz="4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return</a:t>
                      </a:r>
                      <a:r>
                        <a:rPr sz="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Feedba</a:t>
                      </a:r>
                      <a:r>
                        <a:rPr sz="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ckResult(i,  pass=True)</a:t>
                      </a: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370840" algn="l" rtl="0" eaLnBrk="0">
                        <a:lnSpc>
                          <a:spcPct val="97000"/>
                        </a:lnSpc>
                        <a:spcBef>
                          <a:spcPts val="730"/>
                        </a:spcBef>
                      </a:pPr>
                      <a:r>
                        <a:rPr sz="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#</a:t>
                      </a:r>
                      <a:r>
                        <a:rPr sz="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4</a:t>
                      </a:r>
                      <a:r>
                        <a:rPr sz="4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.</a:t>
                      </a:r>
                      <a:r>
                        <a:rPr sz="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Fix</a:t>
                      </a:r>
                      <a:r>
                        <a:rPr sz="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ONLY</a:t>
                      </a:r>
                      <a:r>
                        <a:rPr sz="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files</a:t>
                      </a:r>
                      <a:r>
                        <a:rPr sz="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w</a:t>
                      </a:r>
                      <a:r>
                        <a:rPr sz="4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ith</a:t>
                      </a:r>
                      <a:r>
                        <a:rPr sz="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errors</a:t>
                      </a: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372745" algn="l" rtl="0" eaLnBrk="0">
                        <a:lnSpc>
                          <a:spcPct val="97000"/>
                        </a:lnSpc>
                        <a:spcBef>
                          <a:spcPts val="130"/>
                        </a:spcBef>
                      </a:pPr>
                      <a:r>
                        <a:rPr sz="4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for  file</a:t>
                      </a:r>
                      <a:r>
                        <a:rPr sz="4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,  errors  in  file_errors .</a:t>
                      </a:r>
                      <a:r>
                        <a:rPr sz="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4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items():</a:t>
                      </a: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534670" algn="l" rtl="0" eaLnBrk="0">
                        <a:lnSpc>
                          <a:spcPct val="97000"/>
                        </a:lnSpc>
                        <a:spcBef>
                          <a:spcPts val="130"/>
                        </a:spcBef>
                      </a:pPr>
                      <a:r>
                        <a:rPr sz="4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fixed  =</a:t>
                      </a:r>
                      <a:r>
                        <a:rPr sz="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call_llm(fix_prompt .</a:t>
                      </a:r>
                      <a:r>
                        <a:rPr sz="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4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for</a:t>
                      </a:r>
                      <a:r>
                        <a:rPr sz="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mat(</a:t>
                      </a: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694055" algn="l" rtl="0" eaLnBrk="0">
                        <a:lnSpc>
                          <a:spcPts val="595"/>
                        </a:lnSpc>
                      </a:pPr>
                      <a:r>
                        <a:rPr sz="4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model_context=mode</a:t>
                      </a:r>
                      <a:r>
                        <a:rPr sz="4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l ,</a:t>
                      </a: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697230" algn="l" rtl="0" eaLnBrk="0">
                        <a:lnSpc>
                          <a:spcPct val="97000"/>
                        </a:lnSpc>
                        <a:spcBef>
                          <a:spcPts val="130"/>
                        </a:spcBef>
                      </a:pPr>
                      <a:r>
                        <a:rPr sz="4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errors=er</a:t>
                      </a:r>
                      <a:r>
                        <a:rPr sz="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rors ,</a:t>
                      </a: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697865" algn="l" rtl="0" eaLnBrk="0">
                        <a:lnSpc>
                          <a:spcPct val="97000"/>
                        </a:lnSpc>
                        <a:spcBef>
                          <a:spcPts val="130"/>
                        </a:spcBef>
                      </a:pPr>
                      <a:r>
                        <a:rPr sz="4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  <a:hlinkClick r:id="rId5">
                            <a:extLst>
                              <a:ext uri="{DAF060AB-1E55-43B9-8AAB-6FB025537F2F}">
                                <wpsdc:hlinkClr xmlns:wpsdc="http://www.wps.cn/officeDocument/2017/drawingmlCustomData" val="000000"/>
                                <wpsdc:folHlinkClr xmlns:wpsdc="http://www.wps.cn/officeDocument/2017/drawingmlCustomData" val="000000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code=file.</a:t>
                      </a:r>
                      <a:r>
                        <a:rPr sz="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  <a:hlinkClick r:id="rId5">
                            <a:extLst>
                              <a:ext uri="{DAF060AB-1E55-43B9-8AAB-6FB025537F2F}">
                                <wpsdc:hlinkClr xmlns:wpsdc="http://www.wps.cn/officeDocument/2017/drawingmlCustomData" val="000000"/>
                                <wpsdc:folHlinkClr xmlns:wpsdc="http://www.wps.cn/officeDocument/2017/drawingmlCustomData" val="000000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4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  <a:hlinkClick r:id="rId5">
                            <a:extLst>
                              <a:ext uri="{DAF060AB-1E55-43B9-8AAB-6FB025537F2F}">
                                <wpsdc:hlinkClr xmlns:wpsdc="http://www.wps.cn/officeDocument/2017/drawingmlCustomData" val="000000"/>
                                <wpsdc:folHlinkClr xmlns:wpsdc="http://www.wps.cn/officeDocument/2017/drawingmlCustomData" val="000000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re</a:t>
                      </a:r>
                      <a:r>
                        <a:rPr sz="4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  <a:hlinkClick r:id="rId5">
                            <a:extLst>
                              <a:ext uri="{DAF060AB-1E55-43B9-8AAB-6FB025537F2F}">
                                <wpsdc:hlinkClr xmlns:wpsdc="http://www.wps.cn/officeDocument/2017/drawingmlCustomData" val="000000"/>
                                <wpsdc:folHlinkClr xmlns:wpsdc="http://www.wps.cn/officeDocument/2017/drawingmlCustomData" val="000000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ad_text</a:t>
                      </a:r>
                      <a:r>
                        <a:rPr sz="4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()))</a:t>
                      </a: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534670" algn="l" rtl="0" eaLnBrk="0">
                        <a:lnSpc>
                          <a:spcPct val="97000"/>
                        </a:lnSpc>
                        <a:spcBef>
                          <a:spcPts val="130"/>
                        </a:spcBef>
                      </a:pPr>
                      <a:r>
                        <a:rPr sz="4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file</a:t>
                      </a:r>
                      <a:r>
                        <a:rPr sz="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4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.</a:t>
                      </a:r>
                      <a:r>
                        <a:rPr sz="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4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write_text(fixed)</a:t>
                      </a: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211455" algn="l" rtl="0" eaLnBrk="0">
                        <a:lnSpc>
                          <a:spcPct val="97000"/>
                        </a:lnSpc>
                      </a:pPr>
                      <a:r>
                        <a:rPr sz="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return  FeedbackResult(max_iter</a:t>
                      </a:r>
                      <a:r>
                        <a:rPr sz="4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,</a:t>
                      </a:r>
                      <a:r>
                        <a:rPr sz="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4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pass=False)</a:t>
                      </a: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pic>
        <p:nvPicPr>
          <p:cNvPr id="200" name="picture 20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187115" y="1065749"/>
            <a:ext cx="104301" cy="104301"/>
          </a:xfrm>
          <a:prstGeom prst="rect">
            <a:avLst/>
          </a:prstGeom>
        </p:spPr>
      </p:pic>
      <p:pic>
        <p:nvPicPr>
          <p:cNvPr id="202" name="picture 20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187115" y="2090614"/>
            <a:ext cx="104301" cy="104301"/>
          </a:xfrm>
          <a:prstGeom prst="rect">
            <a:avLst/>
          </a:prstGeom>
        </p:spPr>
      </p:pic>
      <p:pic>
        <p:nvPicPr>
          <p:cNvPr id="204" name="picture 20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3187115" y="724132"/>
            <a:ext cx="104301" cy="104301"/>
          </a:xfrm>
          <a:prstGeom prst="rect">
            <a:avLst/>
          </a:prstGeom>
        </p:spPr>
      </p:pic>
      <p:pic>
        <p:nvPicPr>
          <p:cNvPr id="206" name="picture 20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3187115" y="1407366"/>
            <a:ext cx="104301" cy="104301"/>
          </a:xfrm>
          <a:prstGeom prst="rect">
            <a:avLst/>
          </a:prstGeom>
        </p:spPr>
      </p:pic>
      <p:pic>
        <p:nvPicPr>
          <p:cNvPr id="208" name="picture 20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3187115" y="1748984"/>
            <a:ext cx="104301" cy="104301"/>
          </a:xfrm>
          <a:prstGeom prst="rect">
            <a:avLst/>
          </a:prstGeom>
        </p:spPr>
      </p:pic>
      <p:sp>
        <p:nvSpPr>
          <p:cNvPr id="210" name="textbox 210"/>
          <p:cNvSpPr/>
          <p:nvPr/>
        </p:nvSpPr>
        <p:spPr>
          <a:xfrm>
            <a:off x="3211669" y="701436"/>
            <a:ext cx="2367915" cy="16789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52400" indent="-135890" algn="l" rtl="0" eaLnBrk="0">
              <a:lnSpc>
                <a:spcPct val="96000"/>
              </a:lnSpc>
            </a:pPr>
            <a:r>
              <a:rPr sz="700" kern="0" spc="30" baseline="2200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r>
              <a:rPr sz="400" kern="0" spc="3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  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Targeted</a:t>
            </a:r>
            <a:r>
              <a:rPr sz="900" kern="0" spc="15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Fixing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Only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error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-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causing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files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are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sent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to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LLM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51130" indent="-137795" algn="l" rtl="0" eaLnBrk="0">
              <a:lnSpc>
                <a:spcPct val="112000"/>
              </a:lnSpc>
              <a:spcBef>
                <a:spcPts val="715"/>
              </a:spcBef>
            </a:pPr>
            <a:r>
              <a:rPr sz="700" kern="0" spc="30" baseline="2200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r>
              <a:rPr sz="400" kern="0" spc="3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  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Model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Context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Error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messages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+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    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domain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model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nstraints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56845" indent="-143510" algn="l" rtl="0" eaLnBrk="0">
              <a:lnSpc>
                <a:spcPct val="105000"/>
              </a:lnSpc>
              <a:spcBef>
                <a:spcPts val="245"/>
              </a:spcBef>
            </a:pPr>
            <a:r>
              <a:rPr sz="700" kern="0" spc="20" baseline="2200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r>
              <a:rPr sz="400" kern="0" spc="2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   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Minimal</a:t>
            </a:r>
            <a:r>
              <a:rPr sz="900" kern="0" spc="15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Changes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  LLM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instructed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to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make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surgical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fixes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56845" indent="-144145" algn="l" rtl="0" eaLnBrk="0">
              <a:lnSpc>
                <a:spcPct val="115000"/>
              </a:lnSpc>
              <a:spcBef>
                <a:spcPts val="215"/>
              </a:spcBef>
            </a:pPr>
            <a:r>
              <a:rPr sz="700" kern="0" spc="40" baseline="2200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</a:t>
            </a:r>
            <a:r>
              <a:rPr sz="400" kern="0" spc="4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  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Bounded</a:t>
            </a:r>
            <a:r>
              <a:rPr sz="900" kern="0" spc="19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Iterations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Max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rounds      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prevents</a:t>
            </a:r>
            <a:r>
              <a:rPr sz="900" kern="0" spc="1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infinite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loo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ps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1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56210" indent="-143510" algn="l" rtl="0" eaLnBrk="0">
              <a:lnSpc>
                <a:spcPct val="106000"/>
              </a:lnSpc>
              <a:spcBef>
                <a:spcPts val="0"/>
              </a:spcBef>
            </a:pPr>
            <a:r>
              <a:rPr sz="700" kern="0" spc="20" baseline="2200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5</a:t>
            </a:r>
            <a:r>
              <a:rPr sz="400" kern="0" spc="2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   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Structural</a:t>
            </a:r>
            <a:r>
              <a:rPr sz="900" kern="0" spc="15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Integrity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  Model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constraint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prevent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archit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ectural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drift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2" name="textbox 212"/>
          <p:cNvSpPr/>
          <p:nvPr/>
        </p:nvSpPr>
        <p:spPr>
          <a:xfrm>
            <a:off x="0" y="0"/>
            <a:ext cx="5760085" cy="350520"/>
          </a:xfrm>
          <a:prstGeom prst="rect">
            <a:avLst/>
          </a:prstGeom>
          <a:solidFill>
            <a:srgbClr val="4D4D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</a:pPr>
            <a:endParaRPr sz="8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3825" algn="l" rtl="0" eaLnBrk="0">
              <a:lnSpc>
                <a:spcPct val="73000"/>
              </a:lnSpc>
              <a:spcBef>
                <a:spcPts val="5"/>
              </a:spcBef>
            </a:pPr>
            <a:r>
              <a:rPr sz="1400" kern="0" spc="-6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Innovation:  Bidirectional</a:t>
            </a:r>
            <a:r>
              <a:rPr sz="1400" kern="0" spc="27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400" kern="0" spc="-6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Feedback</a:t>
            </a:r>
            <a:r>
              <a:rPr sz="1400" kern="0" spc="22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400" kern="0" spc="-6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Mechanism</a:t>
            </a:r>
            <a:endParaRPr sz="14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214" name="picture 2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4141470" y="3047492"/>
            <a:ext cx="1575847" cy="58392"/>
          </a:xfrm>
          <a:prstGeom prst="rect">
            <a:avLst/>
          </a:prstGeom>
        </p:spPr>
      </p:pic>
      <p:pic>
        <p:nvPicPr>
          <p:cNvPr id="216" name="picture 21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3054920" y="2849144"/>
            <a:ext cx="2641872" cy="40487"/>
          </a:xfrm>
          <a:prstGeom prst="rect">
            <a:avLst/>
          </a:prstGeom>
        </p:spPr>
      </p:pic>
      <p:sp>
        <p:nvSpPr>
          <p:cNvPr id="218" name="textbox 218"/>
          <p:cNvSpPr/>
          <p:nvPr/>
        </p:nvSpPr>
        <p:spPr>
          <a:xfrm>
            <a:off x="3095146" y="2669057"/>
            <a:ext cx="1855470" cy="179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Why</a:t>
            </a:r>
            <a:r>
              <a:rPr sz="1100" kern="0" spc="19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</a:t>
            </a:r>
            <a:r>
              <a:rPr sz="1100" kern="0" spc="10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Works</a:t>
            </a:r>
            <a:r>
              <a:rPr sz="1100" kern="0" spc="9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100" kern="0" spc="-2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—</a:t>
            </a:r>
            <a:r>
              <a:rPr sz="1100" kern="0" spc="16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100" kern="0" spc="-2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Comparison</a:t>
            </a:r>
            <a:endParaRPr sz="11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220" name="picture 22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3054920" y="2710220"/>
            <a:ext cx="2685667" cy="529777"/>
          </a:xfrm>
          <a:prstGeom prst="rect">
            <a:avLst/>
          </a:prstGeom>
        </p:spPr>
      </p:pic>
      <p:graphicFrame>
        <p:nvGraphicFramePr>
          <p:cNvPr id="222" name="table 222"/>
          <p:cNvGraphicFramePr>
            <a:graphicFrameLocks noGrp="1"/>
          </p:cNvGraphicFramePr>
          <p:nvPr/>
        </p:nvGraphicFramePr>
        <p:xfrm>
          <a:off x="3105720" y="2908612"/>
          <a:ext cx="2653665" cy="330835"/>
        </p:xfrm>
        <a:graphic>
          <a:graphicData uri="http://schemas.openxmlformats.org/drawingml/2006/table">
            <a:tbl>
              <a:tblPr/>
              <a:tblGrid>
                <a:gridCol w="650240"/>
                <a:gridCol w="640715"/>
                <a:gridCol w="467994"/>
                <a:gridCol w="894714"/>
              </a:tblGrid>
              <a:tr h="33083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57785" algn="l" rtl="0" eaLnBrk="0">
                        <a:lnSpc>
                          <a:spcPts val="1345"/>
                        </a:lnSpc>
                        <a:spcBef>
                          <a:spcPts val="5"/>
                        </a:spcBef>
                      </a:pP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Gene</a:t>
                      </a: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  <a:hlinkClick r:id="rId14" action="ppaction://hlinksldjump">
                            <a:extLst>
                              <a:ext uri="{DAF060AB-1E55-43B9-8AAB-6FB025537F2F}">
                                <wpsdc:hlinkClr xmlns:wpsdc="http://www.wps.cn/officeDocument/2017/drawingmlCustomData" val="000000"/>
                                <wpsdc:folHlinkClr xmlns:wpsdc="http://www.wps.cn/officeDocument/2017/drawingmlCustomData" val="000000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ric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  <a:hlinkClick r:id="rId15" action="ppaction://hlinksldjump">
                            <a:extLst>
                              <a:ext uri="{DAF060AB-1E55-43B9-8AAB-6FB025537F2F}">
                                <wpsdc:hlinkClr xmlns:wpsdc="http://www.wps.cn/officeDocument/2017/drawingmlCustomData" val="000000"/>
                                <wpsdc:folHlinkClr xmlns:wpsdc="http://www.wps.cn/officeDocument/2017/drawingmlCustomData" val="000000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 </a:t>
                      </a:r>
                      <a:endParaRPr sz="9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73990" algn="l" rtl="0" eaLnBrk="0">
                        <a:lnSpc>
                          <a:spcPts val="1345"/>
                        </a:lnSpc>
                        <a:spcBef>
                          <a:spcPts val="5"/>
                        </a:spcBef>
                        <a:tabLst>
                          <a:tab pos="205105" algn="l"/>
                        </a:tabLst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  <a:hlinkClick r:id="rId15" action="ppaction://hlinksldjump">
                            <a:extLst>
                              <a:ext uri="{DAF060AB-1E55-43B9-8AAB-6FB025537F2F}">
                                <wpsdc:hlinkClr xmlns:wpsdc="http://www.wps.cn/officeDocument/2017/drawingmlCustomData" val="000000"/>
                                <wpsdc:folHlinkClr xmlns:wpsdc="http://www.wps.cn/officeDocument/2017/drawingmlCustomData" val="000000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7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  <a:hlinkClick r:id="rId15" action="ppaction://hlinksldjump">
                            <a:extLst>
                              <a:ext uri="{DAF060AB-1E55-43B9-8AAB-6FB025537F2F}">
                                <wpsdc:hlinkClr xmlns:wpsdc="http://www.wps.cn/officeDocument/2017/drawingmlCustomData" val="000000"/>
                                <wpsdc:folHlinkClr xmlns:wpsdc="http://www.wps.cn/officeDocument/2017/drawingmlCustomData" val="000000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S</a:t>
                      </a:r>
                      <a:r>
                        <a:rPr sz="7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  <a:hlinkClick r:id="rId14" action="ppaction://hlinksldjump">
                            <a:extLst>
                              <a:ext uri="{DAF060AB-1E55-43B9-8AAB-6FB025537F2F}">
                                <wpsdc:hlinkClr xmlns:wpsdc="http://www.wps.cn/officeDocument/2017/drawingmlCustomData" val="000000"/>
                                <wpsdc:folHlinkClr xmlns:wpsdc="http://www.wps.cn/officeDocument/2017/drawingmlCustomData" val="000000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elf</a:t>
                      </a:r>
                      <a:r>
                        <a:rPr sz="7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  <a:hlinkClick r:id="rId16" action="ppaction://hlinksldjump">
                            <a:extLst>
                              <a:ext uri="{DAF060AB-1E55-43B9-8AAB-6FB025537F2F}">
                                <wpsdc:hlinkClr xmlns:wpsdc="http://www.wps.cn/officeDocument/2017/drawingmlCustomData" val="000000"/>
                                <wpsdc:folHlinkClr xmlns:wpsdc="http://www.wps.cn/officeDocument/2017/drawingmlCustomData" val="000000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-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  <a:hlinkClick r:id="rId16" action="ppaction://hlinksldjump">
                            <a:extLst>
                              <a:ext uri="{DAF060AB-1E55-43B9-8AAB-6FB025537F2F}">
                                <wpsdc:hlinkClr xmlns:wpsdc="http://www.wps.cn/officeDocument/2017/drawingmlCustomData" val="000000"/>
                                <wpsdc:folHlinkClr xmlns:wpsdc="http://www.wps.cn/officeDocument/2017/drawingmlCustomData" val="000000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 </a:t>
                      </a:r>
                      <a:endParaRPr sz="7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85090" algn="l" rtl="0" eaLnBrk="0">
                        <a:lnSpc>
                          <a:spcPts val="1345"/>
                        </a:lnSpc>
                        <a:spcBef>
                          <a:spcPts val="5"/>
                        </a:spcBef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  <a:hlinkClick r:id="rId14" action="ppaction://hlinksldjump">
                            <a:extLst>
                              <a:ext uri="{DAF060AB-1E55-43B9-8AAB-6FB025537F2F}">
                                <wpsdc:hlinkClr xmlns:wpsdc="http://www.wps.cn/officeDocument/2017/drawingmlCustomData" val="000000"/>
                                <wpsdc:folHlinkClr xmlns:wpsdc="http://www.wps.cn/officeDocument/2017/drawingmlCustomData" val="000000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O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  <a:hlinkClick r:id="rId16" action="ppaction://hlinksldjump">
                            <a:extLst>
                              <a:ext uri="{DAF060AB-1E55-43B9-8AAB-6FB025537F2F}">
                                <wpsdc:hlinkClr xmlns:wpsdc="http://www.wps.cn/officeDocument/2017/drawingmlCustomData" val="000000"/>
                                <wpsdc:folHlinkClr xmlns:wpsdc="http://www.wps.cn/officeDocument/2017/drawingmlCustomData" val="000000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ur</a:t>
                      </a:r>
                      <a:r>
                        <a:rPr sz="9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  <a:hlinkClick r:id="rId15" action="ppaction://hlinksldjump">
                            <a:extLst>
                              <a:ext uri="{DAF060AB-1E55-43B9-8AAB-6FB025537F2F}">
                                <wpsdc:hlinkClr xmlns:wpsdc="http://www.wps.cn/officeDocument/2017/drawingmlCustomData" val="000000"/>
                                <wpsdc:folHlinkClr xmlns:wpsdc="http://www.wps.cn/officeDocument/2017/drawingmlCustomData" val="000000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  <a:hlinkClick r:id="rId17" action="ppaction://hlinksldjump">
                            <a:extLst>
                              <a:ext uri="{DAF060AB-1E55-43B9-8AAB-6FB025537F2F}">
                                <wpsdc:hlinkClr xmlns:wpsdc="http://www.wps.cn/officeDocument/2017/drawingmlCustomData" val="000000"/>
                                <wpsdc:folHlinkClr xmlns:wpsdc="http://www.wps.cn/officeDocument/2017/drawingmlCustomData" val="000000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Fe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  <a:hlinkClick r:id="rId18" action="ppaction://hlinksldjump">
                            <a:extLst>
                              <a:ext uri="{DAF060AB-1E55-43B9-8AAB-6FB025537F2F}">
                                <wpsdc:hlinkClr xmlns:wpsdc="http://www.wps.cn/officeDocument/2017/drawingmlCustomData" val="000000"/>
                                <wpsdc:folHlinkClr xmlns:wpsdc="http://www.wps.cn/officeDocument/2017/drawingmlCustomData" val="000000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edb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ack</a:t>
                      </a:r>
                      <a:endParaRPr sz="9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224" name="picture 22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4864671" y="3013519"/>
            <a:ext cx="85617" cy="120192"/>
          </a:xfrm>
          <a:prstGeom prst="rect">
            <a:avLst/>
          </a:prstGeom>
        </p:spPr>
      </p:pic>
      <p:pic>
        <p:nvPicPr>
          <p:cNvPr id="226" name="picture 22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4517403" y="3013519"/>
            <a:ext cx="84508" cy="120192"/>
          </a:xfrm>
          <a:prstGeom prst="rect">
            <a:avLst/>
          </a:prstGeom>
        </p:spPr>
      </p:pic>
      <p:pic>
        <p:nvPicPr>
          <p:cNvPr id="228" name="picture 228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4396676" y="3013519"/>
            <a:ext cx="144866" cy="120192"/>
          </a:xfrm>
          <a:prstGeom prst="rect">
            <a:avLst/>
          </a:prstGeom>
        </p:spPr>
      </p:pic>
      <p:pic>
        <p:nvPicPr>
          <p:cNvPr id="230" name="picture 230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4273385" y="3013519"/>
            <a:ext cx="101219" cy="120192"/>
          </a:xfrm>
          <a:prstGeom prst="rect">
            <a:avLst/>
          </a:prstGeom>
        </p:spPr>
      </p:pic>
      <p:sp>
        <p:nvSpPr>
          <p:cNvPr id="232" name="textbox 232"/>
          <p:cNvSpPr/>
          <p:nvPr/>
        </p:nvSpPr>
        <p:spPr>
          <a:xfrm>
            <a:off x="3805345" y="3102003"/>
            <a:ext cx="1900554" cy="1562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Debug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                    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        </a:t>
            </a:r>
            <a:r>
              <a:rPr sz="700" kern="0" spc="20" baseline="70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6</a:t>
            </a:r>
            <a:r>
              <a:rPr sz="4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700" kern="0" spc="20" baseline="70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/</a:t>
            </a:r>
            <a:r>
              <a:rPr sz="4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700" kern="0" spc="20" baseline="70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10</a:t>
            </a:r>
            <a:endParaRPr sz="700" baseline="70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picture 2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70267" y="502704"/>
            <a:ext cx="5670296" cy="1939824"/>
          </a:xfrm>
          <a:prstGeom prst="rect">
            <a:avLst/>
          </a:prstGeom>
        </p:spPr>
      </p:pic>
      <p:sp>
        <p:nvSpPr>
          <p:cNvPr id="236" name="textbox 236"/>
          <p:cNvSpPr/>
          <p:nvPr/>
        </p:nvSpPr>
        <p:spPr>
          <a:xfrm>
            <a:off x="2713369" y="923409"/>
            <a:ext cx="2935605" cy="14439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69240" indent="-73025" algn="l" rtl="0" eaLnBrk="0">
              <a:lnSpc>
                <a:spcPct val="112000"/>
              </a:lnSpc>
              <a:tabLst>
                <a:tab pos="271780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Entity/table/endpoint/component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count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matches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model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5000"/>
              </a:lnSpc>
              <a:spcBef>
                <a:spcPts val="265"/>
              </a:spcBef>
            </a:pPr>
            <a:r>
              <a:rPr sz="900" b="1" kern="0" spc="6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2.</a:t>
            </a:r>
            <a:r>
              <a:rPr sz="900" kern="0" spc="28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Compilability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Score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(0–1)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96215" algn="l" rtl="0" eaLnBrk="0">
              <a:lnSpc>
                <a:spcPct val="93000"/>
              </a:lnSpc>
              <a:spcBef>
                <a:spcPts val="490"/>
              </a:spcBef>
              <a:tabLst>
                <a:tab pos="271780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Python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syntax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(py</a:t>
            </a:r>
            <a:r>
              <a:rPr sz="900" u="sng" kern="0" spc="1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compil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e)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96215" algn="l" rtl="0" eaLnBrk="0">
              <a:lnSpc>
                <a:spcPct val="93000"/>
              </a:lnSpc>
              <a:spcBef>
                <a:spcPts val="490"/>
              </a:spcBef>
              <a:tabLst>
                <a:tab pos="272415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Module</a:t>
            </a:r>
            <a:r>
              <a:rPr sz="900" kern="0" spc="1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import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(from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main</a:t>
            </a:r>
            <a:r>
              <a:rPr sz="900" kern="0" spc="1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imp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ort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app)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96215" algn="l" rtl="0" eaLnBrk="0">
              <a:lnSpc>
                <a:spcPct val="93000"/>
              </a:lnSpc>
              <a:spcBef>
                <a:spcPts val="490"/>
              </a:spcBef>
              <a:tabLst>
                <a:tab pos="271780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Frontend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build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(npm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nstall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&amp;&amp;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npm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run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build)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5000"/>
              </a:lnSpc>
              <a:spcBef>
                <a:spcPts val="470"/>
              </a:spcBef>
            </a:pPr>
            <a:r>
              <a:rPr sz="900" b="1" kern="0" spc="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3.</a:t>
            </a:r>
            <a:r>
              <a:rPr sz="900" kern="0" spc="26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Consistency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Score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(0–1)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2000"/>
              </a:lnSpc>
            </a:pPr>
            <a:endParaRPr sz="4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96215" algn="l" rtl="0" eaLnBrk="0">
              <a:lnSpc>
                <a:spcPct val="93000"/>
              </a:lnSpc>
              <a:spcBef>
                <a:spcPts val="0"/>
              </a:spcBef>
              <a:tabLst>
                <a:tab pos="271780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Pairwise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SequenceMatch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er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similarity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across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runs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238" name="picture 2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850436" y="2260574"/>
            <a:ext cx="59601" cy="59601"/>
          </a:xfrm>
          <a:prstGeom prst="rect">
            <a:avLst/>
          </a:prstGeom>
        </p:spPr>
      </p:pic>
      <p:pic>
        <p:nvPicPr>
          <p:cNvPr id="240" name="picture 2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850436" y="1880997"/>
            <a:ext cx="59601" cy="59601"/>
          </a:xfrm>
          <a:prstGeom prst="rect">
            <a:avLst/>
          </a:prstGeom>
        </p:spPr>
      </p:pic>
      <p:pic>
        <p:nvPicPr>
          <p:cNvPr id="242" name="picture 2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850436" y="1691208"/>
            <a:ext cx="59601" cy="59601"/>
          </a:xfrm>
          <a:prstGeom prst="rect">
            <a:avLst/>
          </a:prstGeom>
        </p:spPr>
      </p:pic>
      <p:pic>
        <p:nvPicPr>
          <p:cNvPr id="244" name="picture 24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850436" y="1501419"/>
            <a:ext cx="59601" cy="59601"/>
          </a:xfrm>
          <a:prstGeom prst="rect">
            <a:avLst/>
          </a:prstGeom>
        </p:spPr>
      </p:pic>
      <p:pic>
        <p:nvPicPr>
          <p:cNvPr id="246" name="picture 24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850436" y="970013"/>
            <a:ext cx="59601" cy="59601"/>
          </a:xfrm>
          <a:prstGeom prst="rect">
            <a:avLst/>
          </a:prstGeom>
        </p:spPr>
      </p:pic>
      <p:pic>
        <p:nvPicPr>
          <p:cNvPr id="248" name="picture 24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4141470" y="3047492"/>
            <a:ext cx="1575847" cy="58392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 rot="21600000">
            <a:off x="75726" y="2480398"/>
            <a:ext cx="5608620" cy="253187"/>
            <a:chOff x="0" y="0"/>
            <a:chExt cx="5608620" cy="253187"/>
          </a:xfrm>
        </p:grpSpPr>
        <p:pic>
          <p:nvPicPr>
            <p:cNvPr id="250" name="picture 25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5608620" cy="253187"/>
            </a:xfrm>
            <a:prstGeom prst="rect">
              <a:avLst/>
            </a:prstGeom>
          </p:spPr>
        </p:pic>
        <p:sp>
          <p:nvSpPr>
            <p:cNvPr id="252" name="textbox 252"/>
            <p:cNvSpPr/>
            <p:nvPr/>
          </p:nvSpPr>
          <p:spPr>
            <a:xfrm>
              <a:off x="-12700" y="-12700"/>
              <a:ext cx="5634355" cy="2787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</a:pPr>
              <a:endParaRPr sz="3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68580" algn="l" rtl="0" eaLnBrk="0">
                <a:lnSpc>
                  <a:spcPct val="91000"/>
                </a:lnSpc>
                <a:spcBef>
                  <a:spcPts val="5"/>
                </a:spcBef>
              </a:pPr>
              <a:r>
                <a:rPr sz="1100" kern="0" spc="0" dirty="0">
                  <a:solidFill>
                    <a:srgbClr val="FFFFFF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Timing</a:t>
              </a:r>
              <a:r>
                <a:rPr sz="1100" kern="0" spc="190" dirty="0">
                  <a:solidFill>
                    <a:srgbClr val="FFFFFF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 </a:t>
              </a:r>
              <a:r>
                <a:rPr sz="1100" kern="0" spc="0" dirty="0">
                  <a:solidFill>
                    <a:srgbClr val="FFFFFF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Decomposition</a:t>
              </a:r>
              <a:r>
                <a:rPr sz="1100" kern="0" spc="170" dirty="0">
                  <a:solidFill>
                    <a:srgbClr val="FFFFFF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 </a:t>
              </a:r>
              <a:r>
                <a:rPr sz="1100" kern="0" spc="0" dirty="0">
                  <a:solidFill>
                    <a:srgbClr val="FFFFFF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(Model</a:t>
              </a:r>
              <a:r>
                <a:rPr sz="1100" kern="0" spc="-10" dirty="0">
                  <a:solidFill>
                    <a:srgbClr val="FFFFFF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-Driven,</a:t>
              </a:r>
              <a:r>
                <a:rPr sz="1100" kern="0" spc="140" dirty="0">
                  <a:solidFill>
                    <a:srgbClr val="FFFFFF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 </a:t>
              </a:r>
              <a:r>
                <a:rPr sz="1100" kern="0" spc="-10" dirty="0">
                  <a:solidFill>
                    <a:srgbClr val="FFFFFF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Small</a:t>
              </a:r>
              <a:r>
                <a:rPr sz="1100" kern="0" spc="200" dirty="0">
                  <a:solidFill>
                    <a:srgbClr val="FFFFFF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 </a:t>
              </a:r>
              <a:r>
                <a:rPr sz="1100" kern="0" spc="-10" dirty="0">
                  <a:solidFill>
                    <a:srgbClr val="FFFFFF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Model)</a:t>
              </a:r>
              <a:endParaRPr sz="11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</p:grpSp>
      <p:pic>
        <p:nvPicPr>
          <p:cNvPr id="254" name="picture 25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75726" y="2537307"/>
            <a:ext cx="5659421" cy="702691"/>
          </a:xfrm>
          <a:prstGeom prst="rect">
            <a:avLst/>
          </a:prstGeom>
        </p:spPr>
      </p:pic>
      <p:sp>
        <p:nvSpPr>
          <p:cNvPr id="256" name="textbox 256"/>
          <p:cNvSpPr/>
          <p:nvPr/>
        </p:nvSpPr>
        <p:spPr>
          <a:xfrm>
            <a:off x="238556" y="895990"/>
            <a:ext cx="2367915" cy="1216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47320" algn="l" rtl="0" eaLnBrk="0">
              <a:lnSpc>
                <a:spcPct val="93000"/>
              </a:lnSpc>
            </a:pP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Pure</a:t>
            </a:r>
            <a:r>
              <a:rPr sz="900" kern="0" spc="2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LLM)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46685" indent="-74930" algn="l" rtl="0" eaLnBrk="0">
              <a:lnSpc>
                <a:spcPct val="104000"/>
              </a:lnSpc>
              <a:spcBef>
                <a:spcPts val="470"/>
              </a:spcBef>
              <a:tabLst>
                <a:tab pos="146685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	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Factor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900" b="1" kern="0" spc="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Model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Size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Small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/</a:t>
            </a:r>
            <a:r>
              <a:rPr sz="900" kern="0" spc="1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Medium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/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Large)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71755" algn="l" rtl="0" eaLnBrk="0">
              <a:lnSpc>
                <a:spcPct val="95000"/>
              </a:lnSpc>
              <a:spcBef>
                <a:spcPts val="440"/>
              </a:spcBef>
              <a:tabLst>
                <a:tab pos="146685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	</a:t>
            </a:r>
            <a:r>
              <a:rPr sz="900" b="1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Replications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</a:t>
            </a:r>
            <a:r>
              <a:rPr sz="900" kern="0" spc="2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runs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per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mbination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71755" algn="l" rtl="0" eaLnBrk="0">
              <a:lnSpc>
                <a:spcPct val="93000"/>
              </a:lnSpc>
              <a:spcBef>
                <a:spcPts val="490"/>
              </a:spcBef>
              <a:tabLst>
                <a:tab pos="140335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	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Total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</a:t>
            </a:r>
            <a:r>
              <a:rPr sz="900" kern="0" spc="2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i="1" kern="0" spc="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×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i="1" kern="0" spc="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×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=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18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experimental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units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71755" algn="l" rtl="0" eaLnBrk="0">
              <a:lnSpc>
                <a:spcPct val="93000"/>
              </a:lnSpc>
              <a:spcBef>
                <a:spcPts val="490"/>
              </a:spcBef>
              <a:tabLst>
                <a:tab pos="146685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	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LLM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DeepSeek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3,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consistent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37795" algn="l" rtl="0" eaLnBrk="0">
              <a:lnSpc>
                <a:spcPts val="1195"/>
              </a:lnSpc>
            </a:pP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temperature</a:t>
            </a:r>
            <a:r>
              <a:rPr sz="900" kern="0" spc="1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per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meth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od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258" name="picture 25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251256" y="1853578"/>
            <a:ext cx="59601" cy="59601"/>
          </a:xfrm>
          <a:prstGeom prst="rect">
            <a:avLst/>
          </a:prstGeom>
        </p:spPr>
      </p:pic>
      <p:pic>
        <p:nvPicPr>
          <p:cNvPr id="260" name="picture 26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251256" y="1663789"/>
            <a:ext cx="59601" cy="59601"/>
          </a:xfrm>
          <a:prstGeom prst="rect">
            <a:avLst/>
          </a:prstGeom>
        </p:spPr>
      </p:pic>
      <p:pic>
        <p:nvPicPr>
          <p:cNvPr id="262" name="picture 26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251256" y="1474000"/>
            <a:ext cx="59601" cy="59601"/>
          </a:xfrm>
          <a:prstGeom prst="rect">
            <a:avLst/>
          </a:prstGeom>
        </p:spPr>
      </p:pic>
      <p:pic>
        <p:nvPicPr>
          <p:cNvPr id="264" name="picture 26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251256" y="1132383"/>
            <a:ext cx="59601" cy="59601"/>
          </a:xfrm>
          <a:prstGeom prst="rect">
            <a:avLst/>
          </a:prstGeom>
        </p:spPr>
      </p:pic>
      <p:sp>
        <p:nvSpPr>
          <p:cNvPr id="266" name="textbox 266"/>
          <p:cNvSpPr/>
          <p:nvPr/>
        </p:nvSpPr>
        <p:spPr>
          <a:xfrm>
            <a:off x="0" y="0"/>
            <a:ext cx="5760085" cy="350520"/>
          </a:xfrm>
          <a:prstGeom prst="rect">
            <a:avLst/>
          </a:prstGeom>
          <a:solidFill>
            <a:srgbClr val="4D4D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</a:pPr>
            <a:endParaRPr sz="7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3825" algn="l" rtl="0" eaLnBrk="0">
              <a:lnSpc>
                <a:spcPct val="86000"/>
              </a:lnSpc>
              <a:spcBef>
                <a:spcPts val="5"/>
              </a:spcBef>
            </a:pPr>
            <a:r>
              <a:rPr sz="1400" kern="0" spc="-6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Experimental</a:t>
            </a:r>
            <a:r>
              <a:rPr sz="1400" kern="0" spc="16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400" kern="0" spc="-6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Setup</a:t>
            </a:r>
            <a:endParaRPr sz="14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68" name="textbox 268"/>
          <p:cNvSpPr/>
          <p:nvPr/>
        </p:nvSpPr>
        <p:spPr>
          <a:xfrm>
            <a:off x="57568" y="518452"/>
            <a:ext cx="5652135" cy="3790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1000"/>
              </a:lnSpc>
              <a:tabLst>
                <a:tab pos="76835" algn="l"/>
                <a:tab pos="5638800" algn="l"/>
              </a:tabLst>
            </a:pPr>
            <a:r>
              <a:rPr sz="1100" u="sng" kern="0" spc="0" dirty="0">
                <a:solidFill>
                  <a:srgbClr val="FFFFFF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1100" u="sng" kern="0" spc="-1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Experiment</a:t>
            </a:r>
            <a:r>
              <a:rPr sz="1100" u="sng" kern="0" spc="190" dirty="0">
                <a:solidFill>
                  <a:srgbClr val="FFFFFF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100" u="sng" kern="0" spc="-1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Design</a:t>
            </a:r>
            <a:r>
              <a:rPr sz="1100" u="sng" kern="0" spc="-10" dirty="0">
                <a:solidFill>
                  <a:srgbClr val="FFFFFF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Arial" panose="020B0604020202090204"/>
                <a:ea typeface="Arial" panose="020B0604020202090204"/>
                <a:cs typeface="Arial" panose="020B0604020202090204"/>
              </a:rPr>
              <a:t>                                 </a:t>
            </a:r>
            <a:r>
              <a:rPr sz="1100" u="sng" kern="0" spc="-20" dirty="0">
                <a:solidFill>
                  <a:srgbClr val="FFFFFF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Arial" panose="020B0604020202090204"/>
                <a:ea typeface="Arial" panose="020B0604020202090204"/>
                <a:cs typeface="Arial" panose="020B0604020202090204"/>
              </a:rPr>
              <a:t>     </a:t>
            </a:r>
            <a:r>
              <a:rPr sz="1100" u="sng" kern="0" spc="-2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Evaluation</a:t>
            </a:r>
            <a:r>
              <a:rPr sz="1100" u="sng" kern="0" spc="-20" dirty="0">
                <a:solidFill>
                  <a:srgbClr val="FFFFFF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Arial" panose="020B0604020202090204"/>
                <a:ea typeface="Arial" panose="020B0604020202090204"/>
                <a:cs typeface="Arial" panose="020B0604020202090204"/>
              </a:rPr>
              <a:t>  </a:t>
            </a:r>
            <a:r>
              <a:rPr sz="1100" u="sng" kern="0" spc="-2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Metrics</a:t>
            </a:r>
            <a:r>
              <a:rPr sz="1100" u="sng" kern="0" spc="0" dirty="0">
                <a:solidFill>
                  <a:srgbClr val="FFFFFF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endParaRPr sz="1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29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52730" algn="l" rtl="0" eaLnBrk="0">
              <a:lnSpc>
                <a:spcPct val="95000"/>
              </a:lnSpc>
              <a:tabLst>
                <a:tab pos="327660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	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Factor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Method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Model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-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Driven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vs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.           </a:t>
            </a:r>
            <a:r>
              <a:rPr sz="1500" b="1" kern="0" spc="20" baseline="300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1.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</a:t>
            </a:r>
            <a:r>
              <a:rPr sz="1500" b="1" kern="0" spc="0" baseline="300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Structure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500" b="1" kern="0" spc="0" baseline="300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Score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500" kern="0" spc="20" baseline="30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(0–1)</a:t>
            </a:r>
            <a:endParaRPr sz="1500" baseline="30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270" name="picture 27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251256" y="790766"/>
            <a:ext cx="59601" cy="59601"/>
          </a:xfrm>
          <a:prstGeom prst="rect">
            <a:avLst/>
          </a:prstGeom>
        </p:spPr>
      </p:pic>
      <p:sp>
        <p:nvSpPr>
          <p:cNvPr id="272" name="textbox 272"/>
          <p:cNvSpPr/>
          <p:nvPr/>
        </p:nvSpPr>
        <p:spPr>
          <a:xfrm>
            <a:off x="1037921" y="3000819"/>
            <a:ext cx="4711700" cy="3181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9685" algn="l" rtl="0" eaLnBrk="0">
              <a:lnSpc>
                <a:spcPts val="1095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Model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Parsing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+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Validation             </a:t>
            </a:r>
            <a:r>
              <a:rPr sz="900" i="1" kern="0" spc="5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&lt;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</a:t>
            </a:r>
            <a:r>
              <a:rPr sz="900" i="1" kern="0" spc="5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.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          </a:t>
            </a:r>
            <a:r>
              <a:rPr sz="900" i="1" kern="0" spc="5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&lt;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</a:t>
            </a:r>
            <a:r>
              <a:rPr sz="900" i="1" kern="0" spc="5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.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1%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15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       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15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 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16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0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2000"/>
              </a:lnSpc>
              <a:spcBef>
                <a:spcPts val="215"/>
              </a:spcBef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Skeleton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Generation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Jinja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2)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       </a:t>
            </a:r>
            <a:r>
              <a:rPr sz="900" i="1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~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       </a:t>
            </a:r>
            <a:r>
              <a:rPr sz="900" i="1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&lt;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</a:t>
            </a:r>
            <a:r>
              <a:rPr sz="900" kern="0" spc="1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1%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         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                           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   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74" name="textbox 274"/>
          <p:cNvSpPr/>
          <p:nvPr/>
        </p:nvSpPr>
        <p:spPr>
          <a:xfrm>
            <a:off x="5512582" y="3140163"/>
            <a:ext cx="179705" cy="88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ts val="500"/>
              </a:lnSpc>
            </a:pPr>
            <a:r>
              <a:rPr sz="4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7 / </a:t>
            </a:r>
            <a:r>
              <a:rPr sz="4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17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10</a:t>
            </a:r>
            <a:endParaRPr sz="4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276" name="picture 27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4498881" y="3013519"/>
            <a:ext cx="1235735" cy="118916"/>
          </a:xfrm>
          <a:prstGeom prst="rect">
            <a:avLst/>
          </a:prstGeom>
        </p:spPr>
      </p:pic>
      <p:pic>
        <p:nvPicPr>
          <p:cNvPr id="278" name="picture 27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4435622" y="3013519"/>
            <a:ext cx="88557" cy="118916"/>
          </a:xfrm>
          <a:prstGeom prst="rect">
            <a:avLst/>
          </a:prstGeom>
        </p:spPr>
      </p:pic>
      <p:pic>
        <p:nvPicPr>
          <p:cNvPr id="280" name="picture 28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4111803" y="3013519"/>
            <a:ext cx="278345" cy="118916"/>
          </a:xfrm>
          <a:prstGeom prst="rect">
            <a:avLst/>
          </a:prstGeom>
        </p:spPr>
      </p:pic>
      <p:sp>
        <p:nvSpPr>
          <p:cNvPr id="282" name="textbox 282"/>
          <p:cNvSpPr/>
          <p:nvPr/>
        </p:nvSpPr>
        <p:spPr>
          <a:xfrm>
            <a:off x="2816484" y="2794129"/>
            <a:ext cx="527685" cy="1562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900" b="1" kern="0" spc="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Time</a:t>
            </a:r>
            <a:r>
              <a:rPr sz="900" kern="0" spc="19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900" b="1" kern="0" spc="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(s)</a:t>
            </a:r>
            <a:endParaRPr sz="9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4" name="textbox 284"/>
          <p:cNvSpPr/>
          <p:nvPr/>
        </p:nvSpPr>
        <p:spPr>
          <a:xfrm>
            <a:off x="4163722" y="2803492"/>
            <a:ext cx="563245" cy="1289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5000"/>
              </a:lnSpc>
            </a:pPr>
            <a:r>
              <a:rPr sz="900" b="1" kern="0" spc="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API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900" b="1" kern="0" spc="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Calls</a:t>
            </a:r>
            <a:endParaRPr sz="9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6" name="textbox 286"/>
          <p:cNvSpPr/>
          <p:nvPr/>
        </p:nvSpPr>
        <p:spPr>
          <a:xfrm>
            <a:off x="1038554" y="2794129"/>
            <a:ext cx="348615" cy="1562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900" b="1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Stage</a:t>
            </a:r>
            <a:endParaRPr sz="9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8" name="path 288"/>
          <p:cNvSpPr/>
          <p:nvPr/>
        </p:nvSpPr>
        <p:spPr>
          <a:xfrm>
            <a:off x="943835" y="2752566"/>
            <a:ext cx="3872318" cy="10121"/>
          </a:xfrm>
          <a:custGeom>
            <a:avLst/>
            <a:gdLst/>
            <a:ahLst/>
            <a:cxnLst/>
            <a:rect l="0" t="0" r="0" b="0"/>
            <a:pathLst>
              <a:path w="6098" h="15">
                <a:moveTo>
                  <a:pt x="0" y="7"/>
                </a:moveTo>
                <a:lnTo>
                  <a:pt x="6098" y="7"/>
                </a:lnTo>
              </a:path>
            </a:pathLst>
          </a:custGeom>
          <a:noFill/>
          <a:ln w="10121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90" name="path 290"/>
          <p:cNvSpPr/>
          <p:nvPr/>
        </p:nvSpPr>
        <p:spPr>
          <a:xfrm>
            <a:off x="943835" y="2973565"/>
            <a:ext cx="3872318" cy="6324"/>
          </a:xfrm>
          <a:custGeom>
            <a:avLst/>
            <a:gdLst/>
            <a:ahLst/>
            <a:cxnLst/>
            <a:rect l="0" t="0" r="0" b="0"/>
            <a:pathLst>
              <a:path w="6098" h="9">
                <a:moveTo>
                  <a:pt x="0" y="4"/>
                </a:moveTo>
                <a:lnTo>
                  <a:pt x="6098" y="4"/>
                </a:lnTo>
              </a:path>
            </a:pathLst>
          </a:custGeom>
          <a:noFill/>
          <a:ln w="6324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92" name="textbox 292"/>
          <p:cNvSpPr/>
          <p:nvPr/>
        </p:nvSpPr>
        <p:spPr>
          <a:xfrm>
            <a:off x="3698236" y="2794129"/>
            <a:ext cx="140335" cy="1562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900" b="1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%</a:t>
            </a:r>
            <a:endParaRPr sz="9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textbox 294"/>
          <p:cNvSpPr/>
          <p:nvPr/>
        </p:nvSpPr>
        <p:spPr>
          <a:xfrm>
            <a:off x="70267" y="464743"/>
            <a:ext cx="5626735" cy="236855"/>
          </a:xfrm>
          <a:prstGeom prst="rect">
            <a:avLst/>
          </a:prstGeom>
          <a:solidFill>
            <a:srgbClr val="3939B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91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57150" algn="l" rtl="0" eaLnBrk="0">
              <a:lnSpc>
                <a:spcPct val="91000"/>
              </a:lnSpc>
            </a:pP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Structure</a:t>
            </a:r>
            <a:r>
              <a:rPr sz="1100" kern="0" spc="13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&amp;</a:t>
            </a:r>
            <a:r>
              <a:rPr sz="1100" kern="0" spc="17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Compilability</a:t>
            </a:r>
            <a:r>
              <a:rPr sz="1100" kern="0" spc="13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Scores       </a:t>
            </a:r>
            <a:r>
              <a:rPr sz="1100" kern="0" spc="-2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        Score</a:t>
            </a:r>
            <a:r>
              <a:rPr sz="1100" kern="0" spc="17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100" kern="0" spc="-2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Comparison</a:t>
            </a:r>
            <a:r>
              <a:rPr sz="1100" kern="0" spc="16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100" kern="0" spc="-2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Chart</a:t>
            </a:r>
            <a:endParaRPr sz="11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296" name="picture 29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70268" y="2262772"/>
            <a:ext cx="2749823" cy="40487"/>
          </a:xfrm>
          <a:prstGeom prst="rect">
            <a:avLst/>
          </a:prstGeom>
        </p:spPr>
      </p:pic>
      <p:sp>
        <p:nvSpPr>
          <p:cNvPr id="298" name="textbox 298"/>
          <p:cNvSpPr/>
          <p:nvPr/>
        </p:nvSpPr>
        <p:spPr>
          <a:xfrm>
            <a:off x="70267" y="2050059"/>
            <a:ext cx="2745105" cy="215265"/>
          </a:xfrm>
          <a:prstGeom prst="rect">
            <a:avLst/>
          </a:prstGeom>
          <a:solidFill>
            <a:srgbClr val="3939B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3000"/>
              </a:lnSpc>
            </a:pPr>
            <a:endParaRPr sz="2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64135" algn="l" rtl="0" eaLnBrk="0">
              <a:lnSpc>
                <a:spcPct val="91000"/>
              </a:lnSpc>
              <a:spcBef>
                <a:spcPts val="0"/>
              </a:spcBef>
            </a:pP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Pure</a:t>
            </a:r>
            <a:r>
              <a:rPr sz="1100" kern="0" spc="19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LLM</a:t>
            </a:r>
            <a:r>
              <a:rPr sz="1100" kern="0" spc="19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Error</a:t>
            </a:r>
            <a:r>
              <a:rPr sz="1100" kern="0" spc="20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Patterns</a:t>
            </a:r>
            <a:r>
              <a:rPr sz="1100" kern="0" spc="18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(3/3</a:t>
            </a:r>
            <a:r>
              <a:rPr sz="1100" kern="0" spc="17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runs</a:t>
            </a:r>
            <a:r>
              <a:rPr sz="1100" kern="0" spc="12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faile</a:t>
            </a:r>
            <a:r>
              <a:rPr sz="1100" kern="0" spc="-2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d)</a:t>
            </a:r>
            <a:endParaRPr sz="11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300" name="picture 3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0267" y="2106985"/>
            <a:ext cx="2795747" cy="1133013"/>
          </a:xfrm>
          <a:prstGeom prst="rect">
            <a:avLst/>
          </a:prstGeom>
        </p:spPr>
      </p:pic>
      <p:pic>
        <p:nvPicPr>
          <p:cNvPr id="302" name="picture 3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0267" y="521661"/>
            <a:ext cx="5670295" cy="1667947"/>
          </a:xfrm>
          <a:prstGeom prst="rect">
            <a:avLst/>
          </a:prstGeom>
        </p:spPr>
      </p:pic>
      <p:sp>
        <p:nvSpPr>
          <p:cNvPr id="304" name="textbox 304"/>
          <p:cNvSpPr/>
          <p:nvPr/>
        </p:nvSpPr>
        <p:spPr>
          <a:xfrm>
            <a:off x="2834651" y="2290723"/>
            <a:ext cx="2855595" cy="198755"/>
          </a:xfrm>
          <a:prstGeom prst="rect">
            <a:avLst/>
          </a:prstGeom>
          <a:solidFill>
            <a:srgbClr val="3939B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91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64135" algn="l" rtl="0" eaLnBrk="0">
              <a:lnSpc>
                <a:spcPct val="91000"/>
              </a:lnSpc>
            </a:pPr>
            <a:r>
              <a:rPr sz="1100" kern="0" spc="-4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Key</a:t>
            </a:r>
            <a:r>
              <a:rPr sz="1100" kern="0" spc="19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100" kern="0" spc="-4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Result</a:t>
            </a:r>
            <a:endParaRPr sz="11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306" name="picture 30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141470" y="3047492"/>
            <a:ext cx="1484559" cy="58392"/>
          </a:xfrm>
          <a:prstGeom prst="rect">
            <a:avLst/>
          </a:prstGeom>
        </p:spPr>
      </p:pic>
      <p:pic>
        <p:nvPicPr>
          <p:cNvPr id="308" name="picture 30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834651" y="2347659"/>
            <a:ext cx="2905911" cy="868590"/>
          </a:xfrm>
          <a:prstGeom prst="rect">
            <a:avLst/>
          </a:prstGeom>
        </p:spPr>
      </p:pic>
      <p:sp>
        <p:nvSpPr>
          <p:cNvPr id="310" name="textbox 310"/>
          <p:cNvSpPr/>
          <p:nvPr/>
        </p:nvSpPr>
        <p:spPr>
          <a:xfrm>
            <a:off x="0" y="0"/>
            <a:ext cx="5760085" cy="350520"/>
          </a:xfrm>
          <a:prstGeom prst="rect">
            <a:avLst/>
          </a:prstGeom>
          <a:solidFill>
            <a:srgbClr val="4D4D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</a:pPr>
            <a:endParaRPr sz="7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3825" algn="l" rtl="0" eaLnBrk="0">
              <a:lnSpc>
                <a:spcPct val="93000"/>
              </a:lnSpc>
            </a:pPr>
            <a:r>
              <a:rPr sz="1300" kern="0" spc="-2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Experimental</a:t>
            </a:r>
            <a:r>
              <a:rPr sz="1300" kern="0" spc="27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300" kern="0" spc="-2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Results</a:t>
            </a:r>
            <a:endParaRPr sz="13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grpSp>
        <p:nvGrpSpPr>
          <p:cNvPr id="16" name="group 16"/>
          <p:cNvGrpSpPr/>
          <p:nvPr/>
        </p:nvGrpSpPr>
        <p:grpSpPr>
          <a:xfrm rot="21600000">
            <a:off x="2834651" y="2520722"/>
            <a:ext cx="2902002" cy="644727"/>
            <a:chOff x="0" y="0"/>
            <a:chExt cx="2902002" cy="644727"/>
          </a:xfrm>
        </p:grpSpPr>
        <p:sp>
          <p:nvSpPr>
            <p:cNvPr id="312" name="rect 312"/>
            <p:cNvSpPr/>
            <p:nvPr/>
          </p:nvSpPr>
          <p:spPr>
            <a:xfrm>
              <a:off x="0" y="0"/>
              <a:ext cx="2855110" cy="644727"/>
            </a:xfrm>
            <a:prstGeom prst="rect">
              <a:avLst/>
            </a:prstGeom>
            <a:solidFill>
              <a:srgbClr val="EBEBF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14" name="textbox 314"/>
            <p:cNvSpPr/>
            <p:nvPr/>
          </p:nvSpPr>
          <p:spPr>
            <a:xfrm>
              <a:off x="-12700" y="-12700"/>
              <a:ext cx="2927985" cy="67056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2000"/>
                </a:lnSpc>
              </a:pPr>
              <a:endParaRPr sz="2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74930" algn="l" rtl="0" eaLnBrk="0">
                <a:lnSpc>
                  <a:spcPct val="95000"/>
                </a:lnSpc>
                <a:spcBef>
                  <a:spcPts val="0"/>
                </a:spcBef>
              </a:pPr>
              <a:r>
                <a:rPr sz="900" b="1" kern="0" spc="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Model</a:t>
              </a:r>
              <a:r>
                <a:rPr sz="900" b="1" kern="0" spc="11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-</a:t>
              </a:r>
              <a:r>
                <a:rPr sz="900" b="1" kern="0" spc="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driven</a:t>
              </a:r>
              <a:r>
                <a:rPr sz="900" kern="0" spc="11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900" b="1" kern="0" spc="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approach</a:t>
              </a:r>
              <a:r>
                <a:rPr sz="900" kern="0" spc="9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900" b="1" kern="0" spc="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achieves</a:t>
              </a:r>
              <a:r>
                <a:rPr sz="900" kern="0" spc="15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900" b="1" kern="0" spc="11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100%</a:t>
              </a:r>
              <a:endParaRPr sz="9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marL="67945" algn="l" rtl="0" eaLnBrk="0">
                <a:lnSpc>
                  <a:spcPts val="1195"/>
                </a:lnSpc>
              </a:pPr>
              <a:r>
                <a:rPr sz="900" b="1" kern="0" spc="2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compilability.</a:t>
              </a:r>
              <a:endParaRPr sz="9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marL="75565" algn="l" rtl="0" eaLnBrk="0">
                <a:lnSpc>
                  <a:spcPct val="95000"/>
                </a:lnSpc>
                <a:spcBef>
                  <a:spcPts val="170"/>
                </a:spcBef>
              </a:pP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Pure</a:t>
              </a:r>
              <a:r>
                <a:rPr sz="900" kern="0" spc="20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 </a:t>
              </a: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LLM</a:t>
              </a:r>
              <a:r>
                <a:rPr sz="900" kern="0" spc="12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 </a:t>
              </a: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achieves</a:t>
              </a:r>
              <a:r>
                <a:rPr sz="900" kern="0" spc="11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 </a:t>
              </a: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only</a:t>
              </a:r>
              <a:r>
                <a:rPr sz="900" kern="0" spc="13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 </a:t>
              </a: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33.3%</a:t>
              </a:r>
              <a:r>
                <a:rPr sz="900" kern="0" spc="8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 </a:t>
              </a: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—</a:t>
              </a:r>
              <a:r>
                <a:rPr sz="900" kern="0" spc="11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 </a:t>
              </a:r>
              <a:r>
                <a:rPr sz="900" b="1" kern="0" spc="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syntax</a:t>
              </a:r>
              <a:r>
                <a:rPr sz="900" kern="0" spc="13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900" b="1" kern="0" spc="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passes,</a:t>
              </a:r>
              <a:endParaRPr sz="9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marL="71120" algn="l" rtl="0" eaLnBrk="0">
                <a:lnSpc>
                  <a:spcPct val="99000"/>
                </a:lnSpc>
                <a:spcBef>
                  <a:spcPts val="170"/>
                </a:spcBef>
              </a:pPr>
              <a:r>
                <a:rPr sz="900" b="1" kern="0" spc="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but</a:t>
              </a:r>
              <a:r>
                <a:rPr sz="900" kern="0" spc="12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900" b="1" kern="0" spc="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imports</a:t>
              </a:r>
              <a:r>
                <a:rPr sz="900" kern="0" spc="7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900" b="1" kern="0" spc="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always</a:t>
              </a:r>
              <a:r>
                <a:rPr sz="900" kern="0" spc="10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900" b="1" kern="0" spc="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f</a:t>
              </a:r>
              <a:r>
                <a:rPr sz="900" b="1" kern="0" spc="0" dirty="0">
                  <a:solidFill>
                    <a:srgbClr val="000000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  <a:hlinkClick r:id="rId6" action="ppaction://hlinksldjump">
                    <a:extLst>
                      <a:ext uri="{DAF060AB-1E55-43B9-8AAB-6FB025537F2F}">
                        <wpsdc:hlinkClr xmlns:wpsdc="http://www.wps.cn/officeDocument/2017/drawingmlCustomData" val="000000"/>
                        <wpsdc:folHlinkClr xmlns:wpsdc="http://www.wps.cn/officeDocument/2017/drawingmlCustomData" val="000000"/>
                        <wpsdc:hlinkUnderline xmlns:wpsdc="http://www.wps.cn/officeDocument/2017/drawingmlCustomData" val="0"/>
                      </a:ext>
                    </a:extLst>
                  </a:hlinkClick>
                </a:rPr>
                <a:t>ail</a:t>
              </a:r>
              <a:r>
                <a:rPr sz="900" kern="0" spc="7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  <a:hlinkClick r:id="rId6" action="ppaction://hlinksldjump">
                    <a:extLst>
                      <a:ext uri="{DAF060AB-1E55-43B9-8AAB-6FB025537F2F}">
                        <wpsdc:hlinkClr xmlns:wpsdc="http://www.wps.cn/officeDocument/2017/drawingmlCustomData" val="000000"/>
                        <wpsdc:folHlinkClr xmlns:wpsdc="http://www.wps.cn/officeDocument/2017/drawingmlCustomData" val="000000"/>
                        <wpsdc:hlinkUnderline xmlns:wpsdc="http://www.wps.cn/officeDocument/2017/drawingmlCustomData" val="0"/>
                      </a:ext>
                    </a:extLst>
                  </a:hlinkClick>
                </a:rPr>
                <a:t>.   </a:t>
              </a:r>
              <a:endParaRPr sz="9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pic>
          <p:nvPicPr>
            <p:cNvPr id="316" name="picture 31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1396487" y="492797"/>
              <a:ext cx="1456106" cy="120192"/>
            </a:xfrm>
            <a:prstGeom prst="rect">
              <a:avLst/>
            </a:prstGeom>
          </p:spPr>
        </p:pic>
      </p:grpSp>
      <p:sp>
        <p:nvSpPr>
          <p:cNvPr id="318" name="textbox 318"/>
          <p:cNvSpPr/>
          <p:nvPr/>
        </p:nvSpPr>
        <p:spPr>
          <a:xfrm>
            <a:off x="238556" y="2309544"/>
            <a:ext cx="2273935" cy="808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7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36525" indent="-64770" algn="l" rtl="0" eaLnBrk="0">
              <a:lnSpc>
                <a:spcPct val="9800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ModuleNotFoundError: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No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module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named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’backe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nd’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44780" indent="-73025" algn="l" rtl="0" eaLnBrk="0">
              <a:lnSpc>
                <a:spcPct val="105000"/>
              </a:lnSpc>
              <a:spcBef>
                <a:spcPts val="460"/>
              </a:spcBef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ImportErro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r: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attempted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relative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import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3000"/>
              </a:lnSpc>
            </a:pPr>
            <a:endParaRPr sz="5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71755" algn="l" rtl="0" eaLnBrk="0">
              <a:lnSpc>
                <a:spcPct val="72000"/>
              </a:lnSpc>
              <a:spcBef>
                <a:spcPts val="5"/>
              </a:spcBef>
              <a:tabLst>
                <a:tab pos="137160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ModuleNotFoundError: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No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module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320" name="picture 3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251256" y="3020657"/>
            <a:ext cx="59601" cy="59601"/>
          </a:xfrm>
          <a:prstGeom prst="rect">
            <a:avLst/>
          </a:prstGeom>
        </p:spPr>
      </p:pic>
      <p:pic>
        <p:nvPicPr>
          <p:cNvPr id="322" name="picture 3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251256" y="2679040"/>
            <a:ext cx="59601" cy="59601"/>
          </a:xfrm>
          <a:prstGeom prst="rect">
            <a:avLst/>
          </a:prstGeom>
        </p:spPr>
      </p:pic>
      <p:pic>
        <p:nvPicPr>
          <p:cNvPr id="324" name="picture 32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251256" y="2337422"/>
            <a:ext cx="59601" cy="59601"/>
          </a:xfrm>
          <a:prstGeom prst="rect">
            <a:avLst/>
          </a:prstGeom>
        </p:spPr>
      </p:pic>
      <p:pic>
        <p:nvPicPr>
          <p:cNvPr id="326" name="picture 32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3555323" y="781647"/>
            <a:ext cx="1643066" cy="122061"/>
          </a:xfrm>
          <a:prstGeom prst="rect">
            <a:avLst/>
          </a:prstGeom>
        </p:spPr>
      </p:pic>
      <p:sp>
        <p:nvSpPr>
          <p:cNvPr id="328" name="textbox 328"/>
          <p:cNvSpPr/>
          <p:nvPr/>
        </p:nvSpPr>
        <p:spPr>
          <a:xfrm>
            <a:off x="108368" y="749541"/>
            <a:ext cx="5271135" cy="2470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1000"/>
              </a:lnSpc>
            </a:pPr>
            <a:endParaRPr sz="2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99695" algn="l" rtl="0" eaLnBrk="0">
              <a:lnSpc>
                <a:spcPct val="93000"/>
              </a:lnSpc>
              <a:spcBef>
                <a:spcPts val="0"/>
              </a:spcBef>
            </a:pP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Metric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          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MD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  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Pure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LLM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     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∆            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Structure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        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       </a:t>
            </a:r>
            <a:r>
              <a:rPr sz="800" b="1" kern="0" spc="4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1.000</a:t>
            </a:r>
            <a:r>
              <a:rPr sz="800" kern="0" spc="4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                    </a:t>
            </a:r>
            <a:endParaRPr sz="8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 rtl="0" eaLnBrk="0">
              <a:lnSpc>
                <a:spcPct val="134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5000"/>
              </a:lnSpc>
              <a:spcBef>
                <a:spcPts val="0"/>
              </a:spcBef>
              <a:tabLst>
                <a:tab pos="2712085" algn="l"/>
              </a:tabLst>
            </a:pPr>
            <a:r>
              <a:rPr sz="400" strike="sngStrike" kern="0" spc="0" dirty="0">
                <a:solidFill>
                  <a:srgbClr val="FF4D4D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400" kern="0" spc="10" dirty="0">
                <a:solidFill>
                  <a:srgbClr val="FF4D4D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     </a:t>
            </a:r>
            <a:r>
              <a:rPr sz="400" kern="0" spc="0" dirty="0">
                <a:solidFill>
                  <a:srgbClr val="FF4D4D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                                                                                                                                                 </a:t>
            </a:r>
            <a:r>
              <a:rPr sz="400" kern="0" spc="60" dirty="0">
                <a:solidFill>
                  <a:srgbClr val="FF4D4D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LLM</a:t>
            </a:r>
            <a:endParaRPr sz="4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30" name="textbox 330"/>
          <p:cNvSpPr/>
          <p:nvPr/>
        </p:nvSpPr>
        <p:spPr>
          <a:xfrm>
            <a:off x="5181178" y="749541"/>
            <a:ext cx="126365" cy="717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5000"/>
              </a:lnSpc>
            </a:pPr>
            <a:r>
              <a:rPr sz="400" kern="0" spc="70" dirty="0">
                <a:solidFill>
                  <a:srgbClr val="4D4D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MD</a:t>
            </a:r>
            <a:endParaRPr sz="4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graphicFrame>
        <p:nvGraphicFramePr>
          <p:cNvPr id="332" name="table 332"/>
          <p:cNvGraphicFramePr>
            <a:graphicFrameLocks noGrp="1"/>
          </p:cNvGraphicFramePr>
          <p:nvPr/>
        </p:nvGraphicFramePr>
        <p:xfrm>
          <a:off x="121068" y="1474559"/>
          <a:ext cx="2699385" cy="379095"/>
        </p:xfrm>
        <a:graphic>
          <a:graphicData uri="http://schemas.openxmlformats.org/drawingml/2006/table">
            <a:tbl>
              <a:tblPr/>
              <a:tblGrid>
                <a:gridCol w="923925"/>
                <a:gridCol w="529590"/>
                <a:gridCol w="611505"/>
                <a:gridCol w="634365"/>
              </a:tblGrid>
              <a:tr h="193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80010" algn="l" rtl="0" eaLnBrk="0">
                        <a:lnSpc>
                          <a:spcPct val="93000"/>
                        </a:lnSpc>
                        <a:spcBef>
                          <a:spcPts val="0"/>
                        </a:spcBef>
                      </a:pPr>
                      <a:r>
                        <a:rPr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Time</a:t>
                      </a:r>
                      <a:r>
                        <a:rPr sz="9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(avg)</a:t>
                      </a:r>
                      <a:endParaRPr sz="9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01600" algn="l" rtl="0" eaLnBrk="0">
                        <a:lnSpc>
                          <a:spcPct val="95000"/>
                        </a:lnSpc>
                        <a:spcBef>
                          <a:spcPts val="0"/>
                        </a:spcBef>
                      </a:pP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164s</a:t>
                      </a:r>
                      <a:endParaRPr sz="9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84150" algn="l" rtl="0" eaLnBrk="0">
                        <a:lnSpc>
                          <a:spcPct val="93000"/>
                        </a:lnSpc>
                        <a:spcBef>
                          <a:spcPts val="0"/>
                        </a:spcBef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380s</a:t>
                      </a:r>
                      <a:endParaRPr sz="9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97485" algn="l" rtl="0" eaLnBrk="0">
                        <a:lnSpc>
                          <a:spcPct val="93000"/>
                        </a:lnSpc>
                        <a:spcBef>
                          <a:spcPts val="0"/>
                        </a:spcBef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–56%</a:t>
                      </a:r>
                      <a:endParaRPr sz="9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8605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</a:pPr>
                      <a:endParaRPr sz="1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87630" algn="l" rtl="0" eaLnBrk="0">
                        <a:lnSpc>
                          <a:spcPct val="74000"/>
                        </a:lnSpc>
                        <a:spcBef>
                          <a:spcPts val="0"/>
                        </a:spcBef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Feedback</a:t>
                      </a:r>
                      <a:r>
                        <a:rPr sz="900" kern="0" spc="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Iters</a:t>
                      </a:r>
                      <a:endParaRPr sz="9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61000"/>
                        </a:lnSpc>
                      </a:pPr>
                      <a:endParaRPr sz="1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97485" algn="l" rtl="0" eaLnBrk="0">
                        <a:lnSpc>
                          <a:spcPct val="95000"/>
                        </a:lnSpc>
                      </a:pPr>
                      <a:r>
                        <a:rPr sz="9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1</a:t>
                      </a:r>
                      <a:endParaRPr sz="9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79000"/>
                        </a:lnSpc>
                      </a:pPr>
                      <a:endParaRPr sz="1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91135" algn="l" rtl="0" eaLnBrk="0">
                        <a:lnSpc>
                          <a:spcPct val="93000"/>
                        </a:lnSpc>
                      </a:pPr>
                      <a:r>
                        <a:rPr sz="9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N/A</a:t>
                      </a:r>
                      <a:endParaRPr sz="9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79000"/>
                        </a:lnSpc>
                      </a:pPr>
                      <a:endParaRPr sz="1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238760" algn="l" rtl="0" eaLnBrk="0">
                        <a:lnSpc>
                          <a:spcPct val="93000"/>
                        </a:lnSpc>
                      </a:pPr>
                      <a:r>
                        <a:rPr sz="9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N/A</a:t>
                      </a:r>
                      <a:endParaRPr sz="9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34" name="textbox 334"/>
          <p:cNvSpPr/>
          <p:nvPr/>
        </p:nvSpPr>
        <p:spPr>
          <a:xfrm>
            <a:off x="362934" y="3133865"/>
            <a:ext cx="5342890" cy="1562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named  ’email</a:t>
            </a:r>
            <a:r>
              <a:rPr sz="900" u="sng" kern="0" spc="1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validator’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                                                                                                               </a:t>
            </a:r>
            <a:r>
              <a:rPr sz="700" kern="0" spc="80" baseline="370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8</a:t>
            </a:r>
            <a:r>
              <a:rPr sz="400" kern="0" spc="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700" kern="0" spc="80" baseline="370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/</a:t>
            </a:r>
            <a:r>
              <a:rPr sz="400" kern="0" spc="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700" kern="0" spc="80" baseline="370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10</a:t>
            </a:r>
            <a:endParaRPr sz="700" baseline="370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36" name="rect 336"/>
          <p:cNvSpPr/>
          <p:nvPr/>
        </p:nvSpPr>
        <p:spPr>
          <a:xfrm>
            <a:off x="3555323" y="1717650"/>
            <a:ext cx="1617325" cy="122061"/>
          </a:xfrm>
          <a:prstGeom prst="rect">
            <a:avLst/>
          </a:prstGeom>
          <a:solidFill>
            <a:srgbClr val="8080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38" name="textbox 338"/>
          <p:cNvSpPr/>
          <p:nvPr/>
        </p:nvSpPr>
        <p:spPr>
          <a:xfrm>
            <a:off x="3095037" y="1685531"/>
            <a:ext cx="2284095" cy="1739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170430" algn="l" rtl="0" eaLnBrk="0">
              <a:lnSpc>
                <a:spcPts val="295"/>
              </a:lnSpc>
            </a:pPr>
            <a:r>
              <a:rPr sz="400" kern="0" spc="70" dirty="0">
                <a:solidFill>
                  <a:srgbClr val="4D4D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MD</a:t>
            </a:r>
            <a:endParaRPr sz="4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0000"/>
              </a:lnSpc>
              <a:spcBef>
                <a:spcPts val="10"/>
              </a:spcBef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Consist                           </a:t>
            </a:r>
            <a:r>
              <a:rPr sz="800" b="1" kern="0" spc="1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0.984</a:t>
            </a:r>
            <a:r>
              <a:rPr sz="800" kern="0" spc="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                   </a:t>
            </a:r>
            <a:endParaRPr sz="8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graphicFrame>
        <p:nvGraphicFramePr>
          <p:cNvPr id="340" name="table 340"/>
          <p:cNvGraphicFramePr>
            <a:graphicFrameLocks noGrp="1"/>
          </p:cNvGraphicFramePr>
          <p:nvPr/>
        </p:nvGraphicFramePr>
        <p:xfrm>
          <a:off x="3555323" y="1453283"/>
          <a:ext cx="1874520" cy="159385"/>
        </p:xfrm>
        <a:graphic>
          <a:graphicData uri="http://schemas.openxmlformats.org/drawingml/2006/table">
            <a:tbl>
              <a:tblPr/>
              <a:tblGrid>
                <a:gridCol w="548005"/>
                <a:gridCol w="1215390"/>
                <a:gridCol w="111125"/>
              </a:tblGrid>
              <a:tr h="15938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</a:pPr>
                      <a:endParaRPr sz="2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37160" algn="l" rtl="0" eaLnBrk="0">
                        <a:lnSpc>
                          <a:spcPct val="91000"/>
                        </a:lnSpc>
                      </a:pPr>
                      <a:r>
                        <a:rPr sz="8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0.333</a:t>
                      </a:r>
                      <a:endParaRPr sz="8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08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sz="2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26035" algn="l" rtl="0" eaLnBrk="0">
                        <a:lnSpc>
                          <a:spcPct val="75000"/>
                        </a:lnSpc>
                        <a:spcBef>
                          <a:spcPts val="0"/>
                        </a:spcBef>
                      </a:pPr>
                      <a:r>
                        <a:rPr sz="400" kern="0" spc="60" dirty="0">
                          <a:solidFill>
                            <a:srgbClr val="FF4D4D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LLM</a:t>
                      </a:r>
                      <a:r>
                        <a:rPr sz="400" kern="0" spc="0" dirty="0">
                          <a:solidFill>
                            <a:srgbClr val="FF4D4D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                                                                 </a:t>
                      </a: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69215" algn="l" rtl="0" eaLnBrk="0">
                        <a:lnSpc>
                          <a:spcPct val="96000"/>
                        </a:lnSpc>
                        <a:spcBef>
                          <a:spcPts val="115"/>
                        </a:spcBef>
                      </a:pPr>
                      <a:r>
                        <a:rPr sz="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0.4</a:t>
                      </a:r>
                      <a:r>
                        <a:rPr sz="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              </a:t>
                      </a:r>
                      <a:r>
                        <a:rPr sz="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0.6</a:t>
                      </a:r>
                      <a:r>
                        <a:rPr sz="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              </a:t>
                      </a:r>
                      <a:r>
                        <a:rPr sz="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0.8               1.0</a:t>
                      </a: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42" name="path 342"/>
          <p:cNvSpPr/>
          <p:nvPr/>
        </p:nvSpPr>
        <p:spPr>
          <a:xfrm>
            <a:off x="5190561" y="1486180"/>
            <a:ext cx="5060" cy="23401"/>
          </a:xfrm>
          <a:custGeom>
            <a:avLst/>
            <a:gdLst/>
            <a:ahLst/>
            <a:cxnLst/>
            <a:rect l="0" t="0" r="0" b="0"/>
            <a:pathLst>
              <a:path w="7" h="36">
                <a:moveTo>
                  <a:pt x="3" y="0"/>
                </a:moveTo>
                <a:lnTo>
                  <a:pt x="3" y="36"/>
                </a:lnTo>
              </a:path>
            </a:pathLst>
          </a:custGeom>
          <a:noFill/>
          <a:ln w="5060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44" name="path 344"/>
          <p:cNvSpPr/>
          <p:nvPr/>
        </p:nvSpPr>
        <p:spPr>
          <a:xfrm>
            <a:off x="4862965" y="1486180"/>
            <a:ext cx="5060" cy="23401"/>
          </a:xfrm>
          <a:custGeom>
            <a:avLst/>
            <a:gdLst/>
            <a:ahLst/>
            <a:cxnLst/>
            <a:rect l="0" t="0" r="0" b="0"/>
            <a:pathLst>
              <a:path w="7" h="36">
                <a:moveTo>
                  <a:pt x="3" y="0"/>
                </a:moveTo>
                <a:lnTo>
                  <a:pt x="3" y="36"/>
                </a:lnTo>
              </a:path>
            </a:pathLst>
          </a:custGeom>
          <a:noFill/>
          <a:ln w="5060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46" name="path 346"/>
          <p:cNvSpPr/>
          <p:nvPr/>
        </p:nvSpPr>
        <p:spPr>
          <a:xfrm>
            <a:off x="4535369" y="1486180"/>
            <a:ext cx="5060" cy="23401"/>
          </a:xfrm>
          <a:custGeom>
            <a:avLst/>
            <a:gdLst/>
            <a:ahLst/>
            <a:cxnLst/>
            <a:rect l="0" t="0" r="0" b="0"/>
            <a:pathLst>
              <a:path w="7" h="36">
                <a:moveTo>
                  <a:pt x="3" y="0"/>
                </a:moveTo>
                <a:lnTo>
                  <a:pt x="3" y="36"/>
                </a:lnTo>
              </a:path>
            </a:pathLst>
          </a:custGeom>
          <a:noFill/>
          <a:ln w="5060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48" name="textbox 348"/>
          <p:cNvSpPr/>
          <p:nvPr/>
        </p:nvSpPr>
        <p:spPr>
          <a:xfrm>
            <a:off x="189856" y="999563"/>
            <a:ext cx="706755" cy="451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5000"/>
              </a:lnSpc>
            </a:pP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Structure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5240" algn="l" rtl="0" eaLnBrk="0">
              <a:lnSpc>
                <a:spcPct val="93000"/>
              </a:lnSpc>
              <a:spcBef>
                <a:spcPts val="340"/>
              </a:spcBef>
            </a:pP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Compilabilit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y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5240" algn="l" rtl="0" eaLnBrk="0">
              <a:lnSpc>
                <a:spcPct val="93000"/>
              </a:lnSpc>
              <a:spcBef>
                <a:spcPts val="190"/>
              </a:spcBef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Consistency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grpSp>
        <p:nvGrpSpPr>
          <p:cNvPr id="18" name="group 18"/>
          <p:cNvGrpSpPr/>
          <p:nvPr/>
        </p:nvGrpSpPr>
        <p:grpSpPr>
          <a:xfrm rot="21600000">
            <a:off x="3555323" y="1230236"/>
            <a:ext cx="1811077" cy="148445"/>
            <a:chOff x="0" y="0"/>
            <a:chExt cx="1811077" cy="148445"/>
          </a:xfrm>
        </p:grpSpPr>
        <p:sp>
          <p:nvSpPr>
            <p:cNvPr id="350" name="rect 350"/>
            <p:cNvSpPr/>
            <p:nvPr/>
          </p:nvSpPr>
          <p:spPr>
            <a:xfrm>
              <a:off x="0" y="19412"/>
              <a:ext cx="1643066" cy="122061"/>
            </a:xfrm>
            <a:prstGeom prst="rect">
              <a:avLst/>
            </a:prstGeom>
            <a:solidFill>
              <a:srgbClr val="8080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52" name="path 352"/>
            <p:cNvSpPr/>
            <p:nvPr/>
          </p:nvSpPr>
          <p:spPr>
            <a:xfrm>
              <a:off x="0" y="19412"/>
              <a:ext cx="1643066" cy="122061"/>
            </a:xfrm>
            <a:custGeom>
              <a:avLst/>
              <a:gdLst/>
              <a:ahLst/>
              <a:cxnLst/>
              <a:rect l="0" t="0" r="0" b="0"/>
              <a:pathLst>
                <a:path w="2587" h="192">
                  <a:moveTo>
                    <a:pt x="3" y="188"/>
                  </a:moveTo>
                  <a:lnTo>
                    <a:pt x="3" y="3"/>
                  </a:lnTo>
                  <a:lnTo>
                    <a:pt x="2583" y="3"/>
                  </a:lnTo>
                  <a:lnTo>
                    <a:pt x="2583" y="188"/>
                  </a:lnTo>
                  <a:lnTo>
                    <a:pt x="3" y="188"/>
                  </a:lnTo>
                </a:path>
              </a:pathLst>
            </a:custGeom>
            <a:noFill/>
            <a:ln w="506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54" name="textbox 354"/>
            <p:cNvSpPr/>
            <p:nvPr/>
          </p:nvSpPr>
          <p:spPr>
            <a:xfrm>
              <a:off x="674823" y="-12700"/>
              <a:ext cx="1149350" cy="17399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sz="1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1035685" algn="l" rtl="0" eaLnBrk="0">
                <a:lnSpc>
                  <a:spcPts val="295"/>
                </a:lnSpc>
              </a:pPr>
              <a:r>
                <a:rPr sz="400" kern="0" spc="70" dirty="0">
                  <a:solidFill>
                    <a:srgbClr val="4D4DFF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MD</a:t>
              </a:r>
              <a:endParaRPr sz="4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12700" algn="l" rtl="0" eaLnBrk="0">
                <a:lnSpc>
                  <a:spcPct val="90000"/>
                </a:lnSpc>
                <a:spcBef>
                  <a:spcPts val="10"/>
                </a:spcBef>
              </a:pPr>
              <a:r>
                <a:rPr sz="800" b="1" kern="0" spc="30" dirty="0">
                  <a:solidFill>
                    <a:srgbClr val="FFFFFF">
                      <a:alpha val="100000"/>
                    </a:srgb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1.000</a:t>
              </a:r>
              <a:endParaRPr sz="800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</p:grpSp>
      <p:graphicFrame>
        <p:nvGraphicFramePr>
          <p:cNvPr id="356" name="table 356"/>
          <p:cNvGraphicFramePr>
            <a:graphicFrameLocks noGrp="1"/>
          </p:cNvGraphicFramePr>
          <p:nvPr/>
        </p:nvGraphicFramePr>
        <p:xfrm>
          <a:off x="3555323" y="1015648"/>
          <a:ext cx="1506854" cy="128904"/>
        </p:xfrm>
        <a:graphic>
          <a:graphicData uri="http://schemas.openxmlformats.org/drawingml/2006/table">
            <a:tbl>
              <a:tblPr>
                <a:solidFill>
                  <a:srgbClr val="FF8080"/>
                </a:solidFill>
              </a:tblPr>
              <a:tblGrid>
                <a:gridCol w="1506854"/>
              </a:tblGrid>
              <a:tr h="1257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76000"/>
                        </a:lnSpc>
                      </a:pPr>
                      <a:endParaRPr sz="1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615315" algn="l" rtl="0" eaLnBrk="0">
                        <a:lnSpc>
                          <a:spcPct val="91000"/>
                        </a:lnSpc>
                      </a:pPr>
                      <a:r>
                        <a:rPr sz="800" b="1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0.917</a:t>
                      </a:r>
                      <a:endParaRPr sz="8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080"/>
                    </a:solidFill>
                  </a:tcPr>
                </a:tc>
              </a:tr>
            </a:tbl>
          </a:graphicData>
        </a:graphic>
      </p:graphicFrame>
      <p:sp>
        <p:nvSpPr>
          <p:cNvPr id="358" name="textbox 358"/>
          <p:cNvSpPr/>
          <p:nvPr/>
        </p:nvSpPr>
        <p:spPr>
          <a:xfrm>
            <a:off x="2313578" y="994123"/>
            <a:ext cx="443865" cy="457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1750" algn="l" rtl="0" eaLnBrk="0">
              <a:lnSpc>
                <a:spcPct val="93000"/>
              </a:lnSpc>
            </a:pP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+0.083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5000"/>
              </a:lnSpc>
              <a:spcBef>
                <a:spcPts val="170"/>
              </a:spcBef>
            </a:pPr>
            <a:r>
              <a:rPr sz="900" b="1" kern="0" spc="5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+0.667</a:t>
            </a:r>
            <a:endParaRPr sz="9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12700" algn="l" rtl="0" eaLnBrk="0">
              <a:lnSpc>
                <a:spcPct val="95000"/>
              </a:lnSpc>
              <a:spcBef>
                <a:spcPts val="170"/>
              </a:spcBef>
            </a:pPr>
            <a:r>
              <a:rPr sz="900" b="1" kern="0" spc="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+0.503</a:t>
            </a:r>
            <a:endParaRPr sz="9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0" name="textbox 360"/>
          <p:cNvSpPr/>
          <p:nvPr/>
        </p:nvSpPr>
        <p:spPr>
          <a:xfrm>
            <a:off x="1102607" y="991466"/>
            <a:ext cx="337185" cy="4597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5875" algn="l" rtl="0" eaLnBrk="0">
              <a:lnSpc>
                <a:spcPct val="111000"/>
              </a:lnSpc>
            </a:pPr>
            <a:r>
              <a:rPr sz="900" b="1" kern="0" spc="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1.000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900" b="1" kern="0" spc="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1.000</a:t>
            </a:r>
            <a:endParaRPr sz="9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0.984</a:t>
            </a:r>
            <a:endParaRPr sz="9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2" name="textbox 362"/>
          <p:cNvSpPr/>
          <p:nvPr/>
        </p:nvSpPr>
        <p:spPr>
          <a:xfrm>
            <a:off x="1721061" y="994123"/>
            <a:ext cx="309245" cy="457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0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112000"/>
              </a:lnSpc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0.917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0.333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3000"/>
              </a:lnSpc>
              <a:spcBef>
                <a:spcPts val="0"/>
              </a:spcBef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0.481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64" name="textbox 364"/>
          <p:cNvSpPr/>
          <p:nvPr/>
        </p:nvSpPr>
        <p:spPr>
          <a:xfrm>
            <a:off x="3555323" y="1951650"/>
            <a:ext cx="793750" cy="129540"/>
          </a:xfrm>
          <a:prstGeom prst="rect">
            <a:avLst/>
          </a:prstGeom>
          <a:solidFill>
            <a:srgbClr val="FF808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/>
        </p:txBody>
      </p:sp>
      <p:sp>
        <p:nvSpPr>
          <p:cNvPr id="366" name="path 366"/>
          <p:cNvSpPr/>
          <p:nvPr/>
        </p:nvSpPr>
        <p:spPr>
          <a:xfrm>
            <a:off x="3555323" y="1954181"/>
            <a:ext cx="793641" cy="119530"/>
          </a:xfrm>
          <a:custGeom>
            <a:avLst/>
            <a:gdLst/>
            <a:ahLst/>
            <a:cxnLst/>
            <a:rect l="0" t="0" r="0" b="0"/>
            <a:pathLst>
              <a:path w="1249" h="188">
                <a:moveTo>
                  <a:pt x="3" y="184"/>
                </a:moveTo>
                <a:lnTo>
                  <a:pt x="3" y="0"/>
                </a:lnTo>
                <a:moveTo>
                  <a:pt x="1245" y="0"/>
                </a:moveTo>
                <a:lnTo>
                  <a:pt x="1245" y="184"/>
                </a:lnTo>
                <a:lnTo>
                  <a:pt x="3" y="184"/>
                </a:lnTo>
              </a:path>
            </a:pathLst>
          </a:custGeom>
          <a:noFill/>
          <a:ln w="5060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68" name="textbox 368"/>
          <p:cNvSpPr/>
          <p:nvPr/>
        </p:nvSpPr>
        <p:spPr>
          <a:xfrm>
            <a:off x="3100587" y="1239895"/>
            <a:ext cx="360680" cy="140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Compil</a:t>
            </a:r>
            <a:endParaRPr sz="8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70" name="textbox 370"/>
          <p:cNvSpPr/>
          <p:nvPr/>
        </p:nvSpPr>
        <p:spPr>
          <a:xfrm>
            <a:off x="3801675" y="1950685"/>
            <a:ext cx="306070" cy="142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800" b="1" kern="0" spc="30" dirty="0">
                <a:solidFill>
                  <a:srgbClr val="FFFFF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0.481</a:t>
            </a:r>
            <a:endParaRPr sz="8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2" name="path 372"/>
          <p:cNvSpPr/>
          <p:nvPr/>
        </p:nvSpPr>
        <p:spPr>
          <a:xfrm>
            <a:off x="121068" y="732695"/>
            <a:ext cx="2699918" cy="10121"/>
          </a:xfrm>
          <a:custGeom>
            <a:avLst/>
            <a:gdLst/>
            <a:ahLst/>
            <a:cxnLst/>
            <a:rect l="0" t="0" r="0" b="0"/>
            <a:pathLst>
              <a:path w="4251" h="15">
                <a:moveTo>
                  <a:pt x="0" y="7"/>
                </a:moveTo>
                <a:lnTo>
                  <a:pt x="4251" y="7"/>
                </a:lnTo>
              </a:path>
            </a:pathLst>
          </a:custGeom>
          <a:noFill/>
          <a:ln w="10121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74" name="textbox 374"/>
          <p:cNvSpPr/>
          <p:nvPr/>
        </p:nvSpPr>
        <p:spPr>
          <a:xfrm>
            <a:off x="4351186" y="1942935"/>
            <a:ext cx="151130" cy="717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5000"/>
              </a:lnSpc>
            </a:pPr>
            <a:r>
              <a:rPr sz="400" kern="0" spc="60" dirty="0">
                <a:solidFill>
                  <a:srgbClr val="FF4D4D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LLM</a:t>
            </a:r>
            <a:endParaRPr sz="4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76" name="path 376"/>
          <p:cNvSpPr/>
          <p:nvPr/>
        </p:nvSpPr>
        <p:spPr>
          <a:xfrm>
            <a:off x="3557853" y="1951650"/>
            <a:ext cx="788580" cy="5060"/>
          </a:xfrm>
          <a:custGeom>
            <a:avLst/>
            <a:gdLst/>
            <a:ahLst/>
            <a:cxnLst/>
            <a:rect l="0" t="0" r="0" b="0"/>
            <a:pathLst>
              <a:path w="1241" h="7">
                <a:moveTo>
                  <a:pt x="0" y="3"/>
                </a:moveTo>
                <a:lnTo>
                  <a:pt x="1241" y="3"/>
                </a:lnTo>
              </a:path>
            </a:pathLst>
          </a:custGeom>
          <a:noFill/>
          <a:ln w="5060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78" name="path 378"/>
          <p:cNvSpPr/>
          <p:nvPr/>
        </p:nvSpPr>
        <p:spPr>
          <a:xfrm>
            <a:off x="5398480" y="1453283"/>
            <a:ext cx="31378" cy="65793"/>
          </a:xfrm>
          <a:custGeom>
            <a:avLst/>
            <a:gdLst/>
            <a:ahLst/>
            <a:cxnLst/>
            <a:rect l="0" t="0" r="0" b="0"/>
            <a:pathLst>
              <a:path w="49" h="103">
                <a:moveTo>
                  <a:pt x="3" y="3"/>
                </a:moveTo>
                <a:cubicBezTo>
                  <a:pt x="11" y="32"/>
                  <a:pt x="28" y="46"/>
                  <a:pt x="45" y="51"/>
                </a:cubicBezTo>
                <a:cubicBezTo>
                  <a:pt x="28" y="57"/>
                  <a:pt x="11" y="70"/>
                  <a:pt x="3" y="99"/>
                </a:cubicBezTo>
              </a:path>
            </a:pathLst>
          </a:custGeom>
          <a:noFill/>
          <a:ln w="5060" cap="rnd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0" name="table 380"/>
          <p:cNvGraphicFramePr>
            <a:graphicFrameLocks noGrp="1"/>
          </p:cNvGraphicFramePr>
          <p:nvPr/>
        </p:nvGraphicFramePr>
        <p:xfrm>
          <a:off x="70267" y="502704"/>
          <a:ext cx="5669915" cy="1985645"/>
        </p:xfrm>
        <a:graphic>
          <a:graphicData uri="http://schemas.openxmlformats.org/drawingml/2006/table">
            <a:tbl>
              <a:tblPr/>
              <a:tblGrid>
                <a:gridCol w="2915920"/>
                <a:gridCol w="2753995"/>
              </a:tblGrid>
              <a:tr h="2159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</a:pPr>
                      <a:endParaRPr sz="1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52705" algn="l" rtl="0" eaLnBrk="0">
                        <a:lnSpc>
                          <a:spcPct val="91000"/>
                        </a:lnSpc>
                      </a:pPr>
                      <a:r>
                        <a:rPr sz="11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Why</a:t>
                      </a:r>
                      <a:r>
                        <a:rPr sz="1100" kern="0" spc="2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11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Model-Driven</a:t>
                      </a:r>
                      <a:r>
                        <a:rPr sz="1100" kern="0" spc="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11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Wins</a:t>
                      </a:r>
                      <a:endParaRPr sz="11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393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93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93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3939B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</a:pPr>
                      <a:endParaRPr sz="1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1430" algn="l" rtl="0" eaLnBrk="0">
                        <a:lnSpc>
                          <a:spcPct val="91000"/>
                        </a:lnSpc>
                      </a:pPr>
                      <a:r>
                        <a:rPr sz="11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Why</a:t>
                      </a:r>
                      <a:r>
                        <a:rPr sz="1100" kern="0" spc="1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11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Pure</a:t>
                      </a:r>
                      <a:r>
                        <a:rPr sz="1100" kern="0" spc="1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11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LL</a:t>
                      </a:r>
                      <a:r>
                        <a:rPr sz="1100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M</a:t>
                      </a:r>
                      <a:r>
                        <a:rPr sz="1100" kern="0" spc="1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1100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Fails</a:t>
                      </a:r>
                      <a:endParaRPr sz="11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393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93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93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3939BF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393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93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BF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393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93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BF9"/>
                    </a:solidFill>
                  </a:tcPr>
                </a:tc>
              </a:tr>
              <a:tr h="34163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BF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BF9"/>
                    </a:solidFill>
                  </a:tcPr>
                </a:tc>
              </a:tr>
              <a:tr h="34163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BF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BF9"/>
                    </a:solidFill>
                  </a:tcPr>
                </a:tc>
              </a:tr>
              <a:tr h="34163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BF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BF9"/>
                    </a:solidFill>
                  </a:tcPr>
                </a:tc>
              </a:tr>
              <a:tr h="3987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F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F9"/>
                    </a:solidFill>
                  </a:tcPr>
                </a:tc>
              </a:tr>
            </a:tbl>
          </a:graphicData>
        </a:graphic>
      </p:graphicFrame>
      <p:grpSp>
        <p:nvGrpSpPr>
          <p:cNvPr id="20" name="group 20"/>
          <p:cNvGrpSpPr/>
          <p:nvPr/>
        </p:nvGrpSpPr>
        <p:grpSpPr>
          <a:xfrm rot="21600000">
            <a:off x="75717" y="2526780"/>
            <a:ext cx="5608620" cy="236321"/>
            <a:chOff x="0" y="0"/>
            <a:chExt cx="5608620" cy="236321"/>
          </a:xfrm>
        </p:grpSpPr>
        <p:pic>
          <p:nvPicPr>
            <p:cNvPr id="382" name="picture 38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5608620" cy="236321"/>
            </a:xfrm>
            <a:prstGeom prst="rect">
              <a:avLst/>
            </a:prstGeom>
          </p:spPr>
        </p:pic>
        <p:sp>
          <p:nvSpPr>
            <p:cNvPr id="384" name="textbox 384"/>
            <p:cNvSpPr/>
            <p:nvPr/>
          </p:nvSpPr>
          <p:spPr>
            <a:xfrm>
              <a:off x="-12700" y="-12700"/>
              <a:ext cx="5634355" cy="2622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7000"/>
                </a:lnSpc>
              </a:pPr>
              <a:endParaRPr sz="2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76835" algn="l" rtl="0" eaLnBrk="0">
                <a:lnSpc>
                  <a:spcPct val="91000"/>
                </a:lnSpc>
                <a:spcBef>
                  <a:spcPts val="0"/>
                </a:spcBef>
              </a:pPr>
              <a:r>
                <a:rPr sz="1100" kern="0" spc="-30" dirty="0">
                  <a:solidFill>
                    <a:srgbClr val="FFFFFF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Feedback</a:t>
              </a:r>
              <a:r>
                <a:rPr sz="1100" kern="0" spc="190" dirty="0">
                  <a:solidFill>
                    <a:srgbClr val="FFFFFF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 </a:t>
              </a:r>
              <a:r>
                <a:rPr sz="1100" kern="0" spc="-30" dirty="0">
                  <a:solidFill>
                    <a:srgbClr val="FFFFFF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Lo</a:t>
              </a:r>
              <a:r>
                <a:rPr sz="1100" kern="0" spc="-40" dirty="0">
                  <a:solidFill>
                    <a:srgbClr val="FFFFFF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op</a:t>
              </a:r>
              <a:r>
                <a:rPr sz="1100" kern="0" spc="190" dirty="0">
                  <a:solidFill>
                    <a:srgbClr val="FFFFFF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 </a:t>
              </a:r>
              <a:r>
                <a:rPr sz="1100" kern="0" spc="-40" dirty="0">
                  <a:solidFill>
                    <a:srgbClr val="FFFFFF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Impact</a:t>
              </a:r>
              <a:endParaRPr sz="11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</p:grpSp>
      <p:pic>
        <p:nvPicPr>
          <p:cNvPr id="386" name="picture 3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141470" y="3047492"/>
            <a:ext cx="1575847" cy="58392"/>
          </a:xfrm>
          <a:prstGeom prst="rect">
            <a:avLst/>
          </a:prstGeom>
        </p:spPr>
      </p:pic>
      <p:pic>
        <p:nvPicPr>
          <p:cNvPr id="388" name="picture 3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5717" y="2583704"/>
            <a:ext cx="5659421" cy="656293"/>
          </a:xfrm>
          <a:prstGeom prst="rect">
            <a:avLst/>
          </a:prstGeom>
        </p:spPr>
      </p:pic>
      <p:sp>
        <p:nvSpPr>
          <p:cNvPr id="390" name="textbox 390"/>
          <p:cNvSpPr/>
          <p:nvPr/>
        </p:nvSpPr>
        <p:spPr>
          <a:xfrm>
            <a:off x="0" y="0"/>
            <a:ext cx="5760085" cy="350520"/>
          </a:xfrm>
          <a:prstGeom prst="rect">
            <a:avLst/>
          </a:prstGeom>
          <a:solidFill>
            <a:srgbClr val="4D4D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</a:pPr>
            <a:endParaRPr sz="7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12395" algn="l" rtl="0" eaLnBrk="0">
              <a:lnSpc>
                <a:spcPct val="86000"/>
              </a:lnSpc>
              <a:spcBef>
                <a:spcPts val="5"/>
              </a:spcBef>
            </a:pPr>
            <a:r>
              <a:rPr sz="1400" kern="0" spc="-6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Analysis</a:t>
            </a:r>
            <a:r>
              <a:rPr sz="1400" kern="0" spc="19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400" kern="0" spc="-6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&amp;</a:t>
            </a:r>
            <a:r>
              <a:rPr sz="1400" kern="0" spc="21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400" kern="0" spc="-6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Insights</a:t>
            </a:r>
            <a:endParaRPr sz="14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392" name="picture 39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02462" y="1445327"/>
            <a:ext cx="104301" cy="104301"/>
          </a:xfrm>
          <a:prstGeom prst="rect">
            <a:avLst/>
          </a:prstGeom>
        </p:spPr>
      </p:pic>
      <p:sp>
        <p:nvSpPr>
          <p:cNvPr id="394" name="textbox 394"/>
          <p:cNvSpPr/>
          <p:nvPr/>
        </p:nvSpPr>
        <p:spPr>
          <a:xfrm>
            <a:off x="227903" y="1422631"/>
            <a:ext cx="2589530" cy="311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55575" indent="-142875" algn="l" rtl="0" eaLnBrk="0">
              <a:lnSpc>
                <a:spcPct val="105000"/>
              </a:lnSpc>
            </a:pPr>
            <a:r>
              <a:rPr sz="700" kern="0" spc="20" baseline="2200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r>
              <a:rPr sz="400" kern="0" spc="2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   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Type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</a:t>
            </a:r>
            <a:r>
              <a:rPr sz="900" b="1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afety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  Platform-specific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type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mapping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SQL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vs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ORM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vs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Pydantic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vs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TS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)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396" name="picture 39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077007" y="1103710"/>
            <a:ext cx="104301" cy="104301"/>
          </a:xfrm>
          <a:prstGeom prst="rect">
            <a:avLst/>
          </a:prstGeom>
        </p:spPr>
      </p:pic>
      <p:sp>
        <p:nvSpPr>
          <p:cNvPr id="398" name="textbox 398"/>
          <p:cNvSpPr/>
          <p:nvPr/>
        </p:nvSpPr>
        <p:spPr>
          <a:xfrm>
            <a:off x="3102447" y="1083671"/>
            <a:ext cx="2492375" cy="3098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56210" indent="-143510" algn="l" rtl="0" eaLnBrk="0">
              <a:lnSpc>
                <a:spcPct val="105000"/>
              </a:lnSpc>
            </a:pPr>
            <a:r>
              <a:rPr sz="700" kern="0" spc="20" baseline="2200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r>
              <a:rPr sz="400" kern="0" spc="2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  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Structural</a:t>
            </a:r>
            <a:r>
              <a:rPr sz="900" kern="0" spc="15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Drift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  4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8%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consistency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means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runs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produce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architectures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400" name="picture 40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02462" y="2128562"/>
            <a:ext cx="104301" cy="104301"/>
          </a:xfrm>
          <a:prstGeom prst="rect">
            <a:avLst/>
          </a:prstGeom>
        </p:spPr>
      </p:pic>
      <p:sp>
        <p:nvSpPr>
          <p:cNvPr id="402" name="textbox 402"/>
          <p:cNvSpPr/>
          <p:nvPr/>
        </p:nvSpPr>
        <p:spPr>
          <a:xfrm>
            <a:off x="227650" y="2105878"/>
            <a:ext cx="2344420" cy="311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49860" indent="-137160" algn="l" rtl="0" eaLnBrk="0">
              <a:lnSpc>
                <a:spcPct val="105000"/>
              </a:lnSpc>
            </a:pPr>
            <a:r>
              <a:rPr sz="700" kern="0" spc="20" baseline="2200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5</a:t>
            </a:r>
            <a:r>
              <a:rPr sz="400" kern="0" spc="2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  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Feedback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Efficiency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Errors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localized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to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specific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files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;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targeted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fixes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only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404" name="picture 40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077007" y="1445327"/>
            <a:ext cx="104301" cy="104301"/>
          </a:xfrm>
          <a:prstGeom prst="rect">
            <a:avLst/>
          </a:prstGeom>
        </p:spPr>
      </p:pic>
      <p:sp>
        <p:nvSpPr>
          <p:cNvPr id="406" name="textbox 406"/>
          <p:cNvSpPr/>
          <p:nvPr/>
        </p:nvSpPr>
        <p:spPr>
          <a:xfrm>
            <a:off x="3102447" y="1422631"/>
            <a:ext cx="2319655" cy="3340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4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56210" indent="-143510" algn="l" rtl="0" eaLnBrk="0">
              <a:lnSpc>
                <a:spcPct val="114000"/>
              </a:lnSpc>
            </a:pPr>
            <a:r>
              <a:rPr sz="700" kern="0" spc="20" baseline="2200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r>
              <a:rPr sz="400" kern="0" spc="2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   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Dep</a:t>
            </a:r>
            <a:r>
              <a:rPr sz="900" b="1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endency</a:t>
            </a:r>
            <a:r>
              <a:rPr sz="900" kern="0" spc="15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900" b="1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Hallucination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  References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non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-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existent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modules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408" name="picture 40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202462" y="1103710"/>
            <a:ext cx="104301" cy="104301"/>
          </a:xfrm>
          <a:prstGeom prst="rect">
            <a:avLst/>
          </a:prstGeom>
        </p:spPr>
      </p:pic>
      <p:sp>
        <p:nvSpPr>
          <p:cNvPr id="410" name="textbox 410"/>
          <p:cNvSpPr/>
          <p:nvPr/>
        </p:nvSpPr>
        <p:spPr>
          <a:xfrm>
            <a:off x="227903" y="1081014"/>
            <a:ext cx="2301240" cy="311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49225" indent="-136525" algn="l" rtl="0" eaLnBrk="0">
              <a:lnSpc>
                <a:spcPct val="105000"/>
              </a:lnSpc>
            </a:pPr>
            <a:r>
              <a:rPr sz="700" kern="0" spc="20" baseline="2200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r>
              <a:rPr sz="400" kern="0" spc="2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   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Import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Consistency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Absolute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imports,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generated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once,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nev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er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modified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by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LLM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412" name="picture 4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3077007" y="2128562"/>
            <a:ext cx="104301" cy="104301"/>
          </a:xfrm>
          <a:prstGeom prst="rect">
            <a:avLst/>
          </a:prstGeom>
        </p:spPr>
      </p:pic>
      <p:sp>
        <p:nvSpPr>
          <p:cNvPr id="414" name="textbox 414"/>
          <p:cNvSpPr/>
          <p:nvPr/>
        </p:nvSpPr>
        <p:spPr>
          <a:xfrm>
            <a:off x="3102194" y="2108535"/>
            <a:ext cx="2317750" cy="308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50495" indent="-137795" algn="l" rtl="0" eaLnBrk="0">
              <a:lnSpc>
                <a:spcPct val="104000"/>
              </a:lnSpc>
            </a:pPr>
            <a:r>
              <a:rPr sz="700" kern="0" spc="20" baseline="2200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5</a:t>
            </a:r>
            <a:r>
              <a:rPr sz="400" kern="0" spc="2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   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Context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Wind</a:t>
            </a:r>
            <a:r>
              <a:rPr sz="900" b="1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ow</a:t>
            </a:r>
            <a:r>
              <a:rPr sz="900" kern="0" spc="15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900" b="1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Limits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  Large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models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exceed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effective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prompt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capacit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y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416" name="picture 4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3077007" y="1786944"/>
            <a:ext cx="104301" cy="104301"/>
          </a:xfrm>
          <a:prstGeom prst="rect">
            <a:avLst/>
          </a:prstGeom>
        </p:spPr>
      </p:pic>
      <p:sp>
        <p:nvSpPr>
          <p:cNvPr id="418" name="textbox 418"/>
          <p:cNvSpPr/>
          <p:nvPr/>
        </p:nvSpPr>
        <p:spPr>
          <a:xfrm>
            <a:off x="3101561" y="1766905"/>
            <a:ext cx="2311400" cy="308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56210" indent="-143510" algn="l" rtl="0" eaLnBrk="0">
              <a:lnSpc>
                <a:spcPct val="104000"/>
              </a:lnSpc>
            </a:pPr>
            <a:r>
              <a:rPr sz="700" kern="0" spc="0" baseline="2200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</a:t>
            </a:r>
            <a:r>
              <a:rPr sz="400" kern="0" spc="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  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No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Self-Correction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  Syntax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passes,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but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integration</a:t>
            </a:r>
            <a:r>
              <a:rPr sz="900" kern="0" spc="1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fails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silently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420" name="picture 4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202462" y="1786944"/>
            <a:ext cx="104301" cy="104301"/>
          </a:xfrm>
          <a:prstGeom prst="rect">
            <a:avLst/>
          </a:prstGeom>
        </p:spPr>
      </p:pic>
      <p:sp>
        <p:nvSpPr>
          <p:cNvPr id="422" name="textbox 422"/>
          <p:cNvSpPr/>
          <p:nvPr/>
        </p:nvSpPr>
        <p:spPr>
          <a:xfrm>
            <a:off x="227017" y="1764248"/>
            <a:ext cx="2261235" cy="311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50495" indent="-137795" algn="l" rtl="0" eaLnBrk="0">
              <a:lnSpc>
                <a:spcPct val="105000"/>
              </a:lnSpc>
            </a:pPr>
            <a:r>
              <a:rPr sz="700" kern="0" spc="20" baseline="2200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</a:t>
            </a:r>
            <a:r>
              <a:rPr sz="400" kern="0" spc="2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  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LLM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Scope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Fill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business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logic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only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—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structural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code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is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templat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e-generated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424" name="picture 42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3077019" y="762092"/>
            <a:ext cx="104301" cy="104301"/>
          </a:xfrm>
          <a:prstGeom prst="rect">
            <a:avLst/>
          </a:prstGeom>
        </p:spPr>
      </p:pic>
      <p:sp>
        <p:nvSpPr>
          <p:cNvPr id="426" name="textbox 426"/>
          <p:cNvSpPr/>
          <p:nvPr/>
        </p:nvSpPr>
        <p:spPr>
          <a:xfrm>
            <a:off x="3105484" y="739396"/>
            <a:ext cx="2252345" cy="311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46685" indent="-133985" algn="l" rtl="0" eaLnBrk="0">
              <a:lnSpc>
                <a:spcPct val="105000"/>
              </a:lnSpc>
            </a:pPr>
            <a:r>
              <a:rPr sz="700" kern="0" spc="30" baseline="2200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r>
              <a:rPr sz="400" kern="0" spc="3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  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Import</a:t>
            </a:r>
            <a:r>
              <a:rPr sz="900" kern="0" spc="15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Fragility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LLM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guesses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module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structure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inconsistently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428" name="picture 42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202475" y="762092"/>
            <a:ext cx="104301" cy="104301"/>
          </a:xfrm>
          <a:prstGeom prst="rect">
            <a:avLst/>
          </a:prstGeom>
        </p:spPr>
      </p:pic>
      <p:sp>
        <p:nvSpPr>
          <p:cNvPr id="430" name="textbox 430"/>
          <p:cNvSpPr/>
          <p:nvPr/>
        </p:nvSpPr>
        <p:spPr>
          <a:xfrm>
            <a:off x="230939" y="742053"/>
            <a:ext cx="2145665" cy="308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46685" indent="-133985" algn="l" rtl="0" eaLnBrk="0">
              <a:lnSpc>
                <a:spcPct val="104000"/>
              </a:lnSpc>
            </a:pPr>
            <a:r>
              <a:rPr sz="700" kern="0" spc="20" baseline="2200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r>
              <a:rPr sz="400" kern="0" spc="2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   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Deterministic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Structure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 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Templates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guarantee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correct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file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organization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32" name="textbox 432"/>
          <p:cNvSpPr/>
          <p:nvPr/>
        </p:nvSpPr>
        <p:spPr>
          <a:xfrm>
            <a:off x="4090720" y="3000819"/>
            <a:ext cx="1659254" cy="3740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27965" indent="-38735" algn="l" rtl="0" eaLnBrk="0">
              <a:lnSpc>
                <a:spcPct val="126000"/>
              </a:lnSpc>
              <a:tabLst>
                <a:tab pos="214630" algn="l"/>
              </a:tabLst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14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1400" kern="0" spc="50" baseline="110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15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0</a:t>
            </a: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15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               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15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                       </a:t>
            </a:r>
            <a:r>
              <a:rPr sz="600" kern="0" spc="-220" baseline="-260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9</a:t>
            </a:r>
            <a:r>
              <a:rPr sz="3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600" kern="0" spc="60" baseline="-260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/</a:t>
            </a:r>
            <a:r>
              <a:rPr sz="300" kern="0" spc="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600" kern="0" spc="60" baseline="-260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10</a:t>
            </a:r>
            <a:r>
              <a:rPr sz="3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434" name="picture 43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5455821" y="3013519"/>
            <a:ext cx="113868" cy="120192"/>
          </a:xfrm>
          <a:prstGeom prst="rect">
            <a:avLst/>
          </a:prstGeom>
        </p:spPr>
      </p:pic>
      <p:pic>
        <p:nvPicPr>
          <p:cNvPr id="436" name="picture 43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4435186" y="3013519"/>
            <a:ext cx="1028014" cy="120192"/>
          </a:xfrm>
          <a:prstGeom prst="rect">
            <a:avLst/>
          </a:prstGeom>
        </p:spPr>
      </p:pic>
      <p:pic>
        <p:nvPicPr>
          <p:cNvPr id="438" name="picture 43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4371914" y="3013519"/>
            <a:ext cx="88569" cy="120192"/>
          </a:xfrm>
          <a:prstGeom prst="rect">
            <a:avLst/>
          </a:prstGeom>
        </p:spPr>
      </p:pic>
      <p:pic>
        <p:nvPicPr>
          <p:cNvPr id="440" name="picture 44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4103420" y="3013519"/>
            <a:ext cx="202438" cy="120192"/>
          </a:xfrm>
          <a:prstGeom prst="rect">
            <a:avLst/>
          </a:prstGeom>
        </p:spPr>
      </p:pic>
      <p:sp>
        <p:nvSpPr>
          <p:cNvPr id="442" name="textbox 442"/>
          <p:cNvSpPr/>
          <p:nvPr/>
        </p:nvSpPr>
        <p:spPr>
          <a:xfrm>
            <a:off x="1510825" y="3043510"/>
            <a:ext cx="1877060" cy="3054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r" rtl="0" eaLnBrk="0">
              <a:lnSpc>
                <a:spcPct val="93000"/>
              </a:lnSpc>
            </a:pP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r>
              <a:rPr sz="900" kern="0" spc="1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type</a:t>
            </a:r>
            <a:r>
              <a:rPr sz="900" kern="0" spc="1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import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)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               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r" rtl="0" eaLnBrk="0">
              <a:lnSpc>
                <a:spcPct val="93000"/>
              </a:lnSpc>
              <a:spcBef>
                <a:spcPts val="190"/>
              </a:spcBef>
            </a:pP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r>
              <a:rPr sz="900" kern="0" spc="1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default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formatting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)          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    1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44" name="textbox 444"/>
          <p:cNvSpPr/>
          <p:nvPr/>
        </p:nvSpPr>
        <p:spPr>
          <a:xfrm>
            <a:off x="2874512" y="2834412"/>
            <a:ext cx="948689" cy="127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4000"/>
              </a:lnSpc>
            </a:pP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Iterations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to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Fix</a:t>
            </a:r>
            <a:endParaRPr sz="9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46" name="textbox 446"/>
          <p:cNvSpPr/>
          <p:nvPr/>
        </p:nvSpPr>
        <p:spPr>
          <a:xfrm>
            <a:off x="4011338" y="2834412"/>
            <a:ext cx="681355" cy="1282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5000"/>
              </a:lnSpc>
            </a:pPr>
            <a:r>
              <a:rPr sz="900" b="1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Final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900" b="1" kern="0" spc="1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Errors</a:t>
            </a:r>
            <a:endParaRPr sz="9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48" name="textbox 448"/>
          <p:cNvSpPr/>
          <p:nvPr/>
        </p:nvSpPr>
        <p:spPr>
          <a:xfrm>
            <a:off x="1734268" y="2823658"/>
            <a:ext cx="340995" cy="1562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900" b="1" kern="0" spc="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Initial</a:t>
            </a:r>
            <a:endParaRPr sz="9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50" name="path 450"/>
          <p:cNvSpPr/>
          <p:nvPr/>
        </p:nvSpPr>
        <p:spPr>
          <a:xfrm>
            <a:off x="977697" y="2782082"/>
            <a:ext cx="3804602" cy="10121"/>
          </a:xfrm>
          <a:custGeom>
            <a:avLst/>
            <a:gdLst/>
            <a:ahLst/>
            <a:cxnLst/>
            <a:rect l="0" t="0" r="0" b="0"/>
            <a:pathLst>
              <a:path w="5991" h="15">
                <a:moveTo>
                  <a:pt x="0" y="7"/>
                </a:moveTo>
                <a:lnTo>
                  <a:pt x="5991" y="7"/>
                </a:lnTo>
              </a:path>
            </a:pathLst>
          </a:custGeom>
          <a:noFill/>
          <a:ln w="10121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52" name="textbox 452"/>
          <p:cNvSpPr/>
          <p:nvPr/>
        </p:nvSpPr>
        <p:spPr>
          <a:xfrm>
            <a:off x="2107517" y="2834918"/>
            <a:ext cx="355600" cy="126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3000"/>
              </a:lnSpc>
            </a:pP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Errors</a:t>
            </a:r>
            <a:endParaRPr sz="9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54" name="path 454"/>
          <p:cNvSpPr/>
          <p:nvPr/>
        </p:nvSpPr>
        <p:spPr>
          <a:xfrm>
            <a:off x="977697" y="3003081"/>
            <a:ext cx="3804602" cy="6324"/>
          </a:xfrm>
          <a:custGeom>
            <a:avLst/>
            <a:gdLst/>
            <a:ahLst/>
            <a:cxnLst/>
            <a:rect l="0" t="0" r="0" b="0"/>
            <a:pathLst>
              <a:path w="5991" h="9">
                <a:moveTo>
                  <a:pt x="0" y="4"/>
                </a:moveTo>
                <a:lnTo>
                  <a:pt x="5991" y="4"/>
                </a:lnTo>
              </a:path>
            </a:pathLst>
          </a:custGeom>
          <a:noFill/>
          <a:ln w="6324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56" name="textbox 456"/>
          <p:cNvSpPr/>
          <p:nvPr/>
        </p:nvSpPr>
        <p:spPr>
          <a:xfrm>
            <a:off x="1077730" y="2834539"/>
            <a:ext cx="245109" cy="127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4000"/>
              </a:lnSpc>
            </a:pP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Run</a:t>
            </a:r>
            <a:endParaRPr sz="9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58" name="textbox 458"/>
          <p:cNvSpPr/>
          <p:nvPr/>
        </p:nvSpPr>
        <p:spPr>
          <a:xfrm>
            <a:off x="1071530" y="3043510"/>
            <a:ext cx="83820" cy="3054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r" rtl="0" eaLnBrk="0">
              <a:lnSpc>
                <a:spcPct val="93000"/>
              </a:lnSpc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3000"/>
              </a:lnSpc>
              <a:spcBef>
                <a:spcPts val="190"/>
              </a:spcBef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0" name="table 460"/>
          <p:cNvGraphicFramePr>
            <a:graphicFrameLocks noGrp="1"/>
          </p:cNvGraphicFramePr>
          <p:nvPr/>
        </p:nvGraphicFramePr>
        <p:xfrm>
          <a:off x="70243" y="464743"/>
          <a:ext cx="5669915" cy="2774950"/>
        </p:xfrm>
        <a:graphic>
          <a:graphicData uri="http://schemas.openxmlformats.org/drawingml/2006/table">
            <a:tbl>
              <a:tblPr/>
              <a:tblGrid>
                <a:gridCol w="3026410"/>
                <a:gridCol w="2643505"/>
              </a:tblGrid>
              <a:tr h="2171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</a:pPr>
                      <a:endParaRPr sz="1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57150" algn="l" rtl="0" eaLnBrk="0">
                        <a:lnSpc>
                          <a:spcPct val="91000"/>
                        </a:lnSpc>
                      </a:pPr>
                      <a:r>
                        <a:rPr sz="11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Summary</a:t>
                      </a:r>
                      <a:r>
                        <a:rPr sz="1100" kern="0" spc="1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11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of</a:t>
                      </a:r>
                      <a:r>
                        <a:rPr sz="1100" kern="0" spc="1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11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Find</a:t>
                      </a:r>
                      <a:r>
                        <a:rPr sz="1100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ings</a:t>
                      </a:r>
                      <a:endParaRPr sz="11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393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93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93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3939B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</a:pPr>
                      <a:endParaRPr sz="2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9050" algn="l" rtl="0" eaLnBrk="0">
                        <a:lnSpc>
                          <a:spcPct val="75000"/>
                        </a:lnSpc>
                        <a:spcBef>
                          <a:spcPts val="0"/>
                        </a:spcBef>
                      </a:pPr>
                      <a:r>
                        <a:rPr sz="11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Contribut</a:t>
                      </a:r>
                      <a:r>
                        <a:rPr sz="11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ions</a:t>
                      </a:r>
                      <a:endParaRPr sz="11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393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93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93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3939BF"/>
                    </a:solidFill>
                  </a:tcPr>
                </a:tc>
              </a:tr>
              <a:tr h="14439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2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308610" indent="-135255" algn="l" rtl="0" eaLnBrk="0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700" kern="0" spc="50" baseline="220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1</a:t>
                      </a:r>
                      <a:r>
                        <a:rPr sz="400" kern="0" spc="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   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Model</a:t>
                      </a:r>
                      <a:r>
                        <a:rPr sz="9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-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Driven</a:t>
                      </a:r>
                      <a:r>
                        <a:rPr sz="9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Approach</a:t>
                      </a:r>
                      <a:r>
                        <a:rPr sz="9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:  10</a:t>
                      </a:r>
                      <a:r>
                        <a:rPr sz="9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0%</a:t>
                      </a:r>
                      <a:r>
                        <a:rPr sz="9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compilability</a:t>
                      </a:r>
                      <a:r>
                        <a:rPr sz="9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,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  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98.4%</a:t>
                      </a:r>
                      <a:r>
                        <a:rPr sz="9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consistency,</a:t>
                      </a:r>
                      <a:r>
                        <a:rPr sz="9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164s</a:t>
                      </a:r>
                      <a:r>
                        <a:rPr sz="9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avg</a:t>
                      </a:r>
                      <a:r>
                        <a:rPr sz="9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time</a:t>
                      </a:r>
                      <a:endParaRPr sz="9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306705" indent="-136525" algn="l" rtl="0" eaLnBrk="0">
                        <a:lnSpc>
                          <a:spcPct val="104000"/>
                        </a:lnSpc>
                        <a:spcBef>
                          <a:spcPts val="445"/>
                        </a:spcBef>
                      </a:pPr>
                      <a:r>
                        <a:rPr sz="700" kern="0" spc="40" baseline="220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2</a:t>
                      </a:r>
                      <a:r>
                        <a:rPr sz="400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   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Pure</a:t>
                      </a:r>
                      <a:r>
                        <a:rPr sz="900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LLM</a:t>
                      </a:r>
                      <a:r>
                        <a:rPr sz="9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Baseline</a:t>
                      </a:r>
                      <a:r>
                        <a:rPr sz="9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:  33.3%</a:t>
                      </a:r>
                      <a:r>
                        <a:rPr sz="9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compilability</a:t>
                      </a:r>
                      <a:r>
                        <a:rPr sz="9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,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         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48.1%</a:t>
                      </a:r>
                      <a:r>
                        <a:rPr sz="9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consi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stency,</a:t>
                      </a:r>
                      <a:r>
                        <a:rPr sz="9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380s</a:t>
                      </a:r>
                      <a:r>
                        <a:rPr sz="9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avg</a:t>
                      </a:r>
                      <a:r>
                        <a:rPr sz="9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time</a:t>
                      </a:r>
                      <a:endParaRPr sz="9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70180" algn="l" rtl="0" eaLnBrk="0">
                        <a:lnSpc>
                          <a:spcPct val="93000"/>
                        </a:lnSpc>
                        <a:spcBef>
                          <a:spcPts val="465"/>
                        </a:spcBef>
                      </a:pPr>
                      <a:r>
                        <a:rPr sz="700" kern="0" spc="20" baseline="220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3</a:t>
                      </a:r>
                      <a:r>
                        <a:rPr sz="400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   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Feedback</a:t>
                      </a:r>
                      <a:r>
                        <a:rPr sz="9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Mechanism</a:t>
                      </a:r>
                      <a:r>
                        <a:rPr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: 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Converges</a:t>
                      </a:r>
                      <a:r>
                        <a:rPr sz="9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in</a:t>
                      </a:r>
                      <a:r>
                        <a:rPr sz="9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1</a:t>
                      </a:r>
                      <a:endParaRPr sz="9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313055" algn="l" rtl="0" eaLnBrk="0">
                        <a:lnSpc>
                          <a:spcPts val="1195"/>
                        </a:lnSpc>
                      </a:pP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iteration;</a:t>
                      </a:r>
                      <a:r>
                        <a:rPr sz="900" kern="0" spc="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model</a:t>
                      </a:r>
                      <a:r>
                        <a:rPr sz="9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context</a:t>
                      </a:r>
                      <a:r>
                        <a:rPr sz="9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prevents</a:t>
                      </a:r>
                      <a:r>
                        <a:rPr sz="9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drift</a:t>
                      </a:r>
                      <a:endParaRPr sz="9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algn="l" rtl="0" eaLnBrk="0">
                        <a:lnSpc>
                          <a:spcPct val="124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307340" indent="-138430" algn="l" rtl="0" eaLnBrk="0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700" kern="0" spc="20" baseline="220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4</a:t>
                      </a:r>
                      <a:r>
                        <a:rPr sz="400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   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Scalability</a:t>
                      </a:r>
                      <a:r>
                        <a:rPr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: 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Linear</a:t>
                      </a:r>
                      <a:r>
                        <a:rPr sz="9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scaling</a:t>
                      </a:r>
                      <a:r>
                        <a:rPr sz="9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with</a:t>
                      </a:r>
                      <a:r>
                        <a:rPr sz="9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model</a:t>
                      </a:r>
                      <a:r>
                        <a:rPr sz="9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size</a:t>
                      </a:r>
                      <a:r>
                        <a:rPr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;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         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constant</a:t>
                      </a:r>
                      <a:r>
                        <a:rPr sz="9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API</a:t>
                      </a:r>
                      <a:r>
                        <a:rPr sz="9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call</a:t>
                      </a:r>
                      <a:r>
                        <a:rPr sz="9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count</a:t>
                      </a:r>
                      <a:r>
                        <a:rPr sz="9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(1–2)</a:t>
                      </a:r>
                      <a:endParaRPr sz="9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EBE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BE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EBE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F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43000"/>
                        </a:lnSpc>
                      </a:pPr>
                      <a:endParaRPr sz="1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271780" indent="-140335" algn="l" rtl="0" eaLnBrk="0">
                        <a:lnSpc>
                          <a:spcPct val="104000"/>
                        </a:lnSpc>
                        <a:spcBef>
                          <a:spcPts val="0"/>
                        </a:spcBef>
                      </a:pPr>
                      <a:r>
                        <a:rPr sz="700" kern="0" spc="10" baseline="220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1</a:t>
                      </a:r>
                      <a:r>
                        <a:rPr sz="4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   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Complete</a:t>
                      </a:r>
                      <a:r>
                        <a:rPr sz="9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model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-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driven</a:t>
                      </a:r>
                      <a:r>
                        <a:rPr sz="9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code</a:t>
                      </a:r>
                      <a:r>
                        <a:rPr sz="9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generation       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pipeline</a:t>
                      </a:r>
                      <a:r>
                        <a:rPr sz="9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(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YAML</a:t>
                      </a:r>
                      <a:r>
                        <a:rPr sz="9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i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→</a:t>
                      </a:r>
                      <a:r>
                        <a:rPr sz="900" kern="0" spc="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Full</a:t>
                      </a:r>
                      <a:r>
                        <a:rPr sz="9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-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Stack</a:t>
                      </a:r>
                      <a:r>
                        <a:rPr sz="9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App</a:t>
                      </a:r>
                      <a:r>
                        <a:rPr sz="9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)</a:t>
                      </a:r>
                      <a:endParaRPr sz="9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28270" algn="l" rtl="0" eaLnBrk="0">
                        <a:lnSpc>
                          <a:spcPct val="75000"/>
                        </a:lnSpc>
                        <a:spcBef>
                          <a:spcPts val="515"/>
                        </a:spcBef>
                      </a:pPr>
                      <a:r>
                        <a:rPr sz="700" kern="0" spc="0" baseline="220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2</a:t>
                      </a:r>
                      <a:r>
                        <a:rPr sz="4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    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Novel</a:t>
                      </a:r>
                      <a:r>
                        <a:rPr sz="9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bidirectional</a:t>
                      </a:r>
                      <a:r>
                        <a:rPr sz="9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feedback</a:t>
                      </a:r>
                      <a:r>
                        <a:rPr sz="9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mechan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ism</a:t>
                      </a:r>
                      <a:endParaRPr sz="9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264795" indent="-136525" algn="l" rtl="0" eaLnBrk="0">
                        <a:lnSpc>
                          <a:spcPct val="104000"/>
                        </a:lnSpc>
                        <a:spcBef>
                          <a:spcPts val="610"/>
                        </a:spcBef>
                      </a:pPr>
                      <a:r>
                        <a:rPr sz="700" kern="0" spc="10" baseline="220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3</a:t>
                      </a:r>
                      <a:r>
                        <a:rPr sz="4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   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Systematic</a:t>
                      </a:r>
                      <a:r>
                        <a:rPr sz="900" kern="0" spc="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experimental</a:t>
                      </a:r>
                      <a:r>
                        <a:rPr sz="9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comparison</a:t>
                      </a:r>
                      <a:r>
                        <a:rPr sz="9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(3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     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sizes</a:t>
                      </a:r>
                      <a:r>
                        <a:rPr sz="900" kern="0" spc="2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i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×</a:t>
                      </a:r>
                      <a:r>
                        <a:rPr sz="9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2</a:t>
                      </a:r>
                      <a:r>
                        <a:rPr sz="9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methods</a:t>
                      </a:r>
                      <a:r>
                        <a:rPr sz="900" kern="0" spc="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i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×</a:t>
                      </a:r>
                      <a:r>
                        <a:rPr sz="9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3</a:t>
                      </a:r>
                      <a:r>
                        <a:rPr sz="9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runs)</a:t>
                      </a:r>
                      <a:endParaRPr sz="9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27635" algn="l" rtl="0" eaLnBrk="0">
                        <a:lnSpc>
                          <a:spcPct val="93000"/>
                        </a:lnSpc>
                        <a:spcBef>
                          <a:spcPts val="465"/>
                        </a:spcBef>
                      </a:pPr>
                      <a:r>
                        <a:rPr sz="700" kern="0" spc="40" baseline="220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4</a:t>
                      </a:r>
                      <a:r>
                        <a:rPr sz="400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   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Open</a:t>
                      </a:r>
                      <a:r>
                        <a:rPr sz="9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-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source</a:t>
                      </a:r>
                      <a:r>
                        <a:rPr sz="9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implementation</a:t>
                      </a:r>
                      <a:r>
                        <a:rPr sz="9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+</a:t>
                      </a:r>
                      <a:endParaRPr sz="9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272415" algn="l" rtl="0" eaLnBrk="0">
                        <a:lnSpc>
                          <a:spcPts val="1195"/>
                        </a:lnSpc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reproducible</a:t>
                      </a:r>
                      <a:r>
                        <a:rPr sz="9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experiments</a:t>
                      </a:r>
                      <a:endParaRPr sz="9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algn="l" rtl="0" eaLnBrk="0">
                        <a:lnSpc>
                          <a:spcPct val="130000"/>
                        </a:lnSpc>
                      </a:pPr>
                      <a:endParaRPr sz="2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273050" indent="-144780" algn="l" rtl="0" eaLnBrk="0">
                        <a:lnSpc>
                          <a:spcPct val="99000"/>
                        </a:lnSpc>
                        <a:spcBef>
                          <a:spcPts val="0"/>
                        </a:spcBef>
                      </a:pPr>
                      <a:r>
                        <a:rPr sz="700" kern="0" spc="20" baseline="220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5</a:t>
                      </a:r>
                      <a:r>
                        <a:rPr sz="400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    </a:t>
                      </a:r>
                      <a:r>
                        <a:rPr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Quantitative</a:t>
                      </a:r>
                      <a:r>
                        <a:rPr sz="9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evidence:  </a:t>
                      </a:r>
                      <a:r>
                        <a:rPr sz="9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models</a:t>
                      </a:r>
                      <a:r>
                        <a:rPr sz="9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9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+</a:t>
                      </a:r>
                      <a:r>
                        <a:rPr sz="9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9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LLM</a:t>
                      </a:r>
                      <a:r>
                        <a:rPr sz="9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900" i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&gt;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 </a:t>
                      </a:r>
                      <a:r>
                        <a:rPr sz="9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LLM</a:t>
                      </a:r>
                      <a:r>
                        <a:rPr sz="9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9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alone</a:t>
                      </a:r>
                      <a:endParaRPr sz="9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EBE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BE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EBE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F9"/>
                    </a:solidFill>
                  </a:tcPr>
                </a:tc>
              </a:tr>
              <a:tr h="146050"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1100"/>
                        </a:lnSpc>
                      </a:pPr>
                      <a:endParaRPr sz="9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3175" cap="flat" cmpd="sng" algn="ctr">
                      <a:solidFill>
                        <a:srgbClr val="EBE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BE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EBE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7320">
                <a:tc>
                  <a:txBody>
                    <a:bodyPr/>
                    <a:lstStyle/>
                    <a:p>
                      <a:pPr marL="64135" algn="l" rtl="0" eaLnBrk="0">
                        <a:lnSpc>
                          <a:spcPct val="73000"/>
                        </a:lnSpc>
                        <a:spcBef>
                          <a:spcPts val="5"/>
                        </a:spcBef>
                      </a:pPr>
                      <a:r>
                        <a:rPr sz="11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Innovation</a:t>
                      </a:r>
                      <a:r>
                        <a:rPr sz="1100" kern="0" spc="1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11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Contrib</a:t>
                      </a:r>
                      <a:r>
                        <a:rPr sz="11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ution</a:t>
                      </a:r>
                      <a:endParaRPr sz="11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82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3939B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1110"/>
                        </a:lnSpc>
                      </a:pPr>
                      <a:endParaRPr sz="9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7955"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</a:pPr>
                      <a:endParaRPr sz="2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62230" algn="l" rtl="0" eaLnBrk="0">
                        <a:lnSpc>
                          <a:spcPct val="75000"/>
                        </a:lnSpc>
                        <a:spcBef>
                          <a:spcPts val="0"/>
                        </a:spcBef>
                      </a:pPr>
                      <a:r>
                        <a:rPr sz="9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Bidirectional</a:t>
                      </a:r>
                      <a:r>
                        <a:rPr sz="900" kern="0" spc="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9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Feedback</a:t>
                      </a:r>
                      <a:r>
                        <a:rPr sz="9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</a:t>
                      </a:r>
                      <a:r>
                        <a:rPr sz="9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Mechanism:</a:t>
                      </a:r>
                      <a:endParaRPr sz="900" dirty="0"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</a:pPr>
                      <a:endParaRPr sz="2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240030" algn="l" rtl="0" eaLnBrk="0">
                        <a:lnSpc>
                          <a:spcPct val="132000"/>
                        </a:lnSpc>
                        <a:spcBef>
                          <a:spcPts val="0"/>
                        </a:spcBef>
                        <a:tabLst>
                          <a:tab pos="315595" algn="l"/>
                        </a:tabLst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	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Model-constrained,</a:t>
                      </a:r>
                      <a:r>
                        <a:rPr sz="9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targeted</a:t>
                      </a:r>
                      <a:r>
                        <a:rPr sz="9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error</a:t>
                      </a:r>
                      <a:r>
                        <a:rPr sz="9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cor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rection          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	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Prevents</a:t>
                      </a:r>
                      <a:r>
                        <a:rPr sz="9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structural</a:t>
                      </a:r>
                      <a:r>
                        <a:rPr sz="9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degradation</a:t>
                      </a:r>
                      <a:r>
                        <a:rPr sz="9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during</a:t>
                      </a:r>
                      <a:r>
                        <a:rPr sz="9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fixing</a:t>
                      </a:r>
                      <a:endParaRPr sz="9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EBE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BE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BF9"/>
                    </a:solidFill>
                  </a:tcPr>
                </a:tc>
                <a:tc>
                  <a:txBody>
                    <a:bodyPr/>
                    <a:lstStyle/>
                    <a:p>
                      <a:pPr marL="22225" algn="l" rtl="0" eaLnBrk="0">
                        <a:lnSpc>
                          <a:spcPct val="72000"/>
                        </a:lnSpc>
                        <a:spcBef>
                          <a:spcPts val="5"/>
                        </a:spcBef>
                      </a:pPr>
                      <a:r>
                        <a:rPr sz="11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Future</a:t>
                      </a:r>
                      <a:r>
                        <a:rPr sz="1100" kern="0" spc="2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11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Directions</a:t>
                      </a:r>
                      <a:endParaRPr sz="11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375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3939BF"/>
                    </a:solidFill>
                  </a:tcPr>
                </a:tc>
              </a:tr>
              <a:tr h="672465">
                <a:tc vMerge="1">
                  <a:tcPr marL="0" marR="0" marT="0" marB="0" vert="horz">
                    <a:lnL w="3175" cap="flat" cmpd="sng" algn="ctr">
                      <a:solidFill>
                        <a:srgbClr val="EBE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BE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</a:pPr>
                      <a:endParaRPr sz="2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98755" algn="l" rtl="0" eaLnBrk="0">
                        <a:lnSpc>
                          <a:spcPct val="93000"/>
                        </a:lnSpc>
                        <a:spcBef>
                          <a:spcPts val="0"/>
                        </a:spcBef>
                        <a:tabLst>
                          <a:tab pos="274320" algn="l"/>
                        </a:tabLst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	</a:t>
                      </a:r>
                      <a:r>
                        <a:rPr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Multi-LLM</a:t>
                      </a:r>
                      <a:r>
                        <a:rPr sz="9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comparison</a:t>
                      </a:r>
                      <a:r>
                        <a:rPr sz="9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(GPT-4,</a:t>
                      </a:r>
                      <a:r>
                        <a:rPr sz="9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C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laude)</a:t>
                      </a:r>
                      <a:endParaRPr sz="9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98755" algn="l" rtl="0" eaLnBrk="0">
                        <a:lnSpc>
                          <a:spcPct val="93000"/>
                        </a:lnSpc>
                        <a:spcBef>
                          <a:spcPts val="490"/>
                        </a:spcBef>
                        <a:tabLst>
                          <a:tab pos="273685" algn="l"/>
                        </a:tabLst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	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Runtime</a:t>
                      </a:r>
                      <a:r>
                        <a:rPr sz="9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test</a:t>
                      </a:r>
                      <a:r>
                        <a:rPr sz="9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integration</a:t>
                      </a:r>
                      <a:r>
                        <a:rPr sz="9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in</a:t>
                      </a:r>
                      <a:r>
                        <a:rPr sz="9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feedback</a:t>
                      </a:r>
                      <a:r>
                        <a:rPr sz="9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loop</a:t>
                      </a:r>
                      <a:endParaRPr sz="9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98755" algn="l" rtl="0" eaLnBrk="0">
                        <a:lnSpc>
                          <a:spcPts val="1145"/>
                        </a:lnSpc>
                        <a:spcBef>
                          <a:spcPts val="490"/>
                        </a:spcBef>
                        <a:tabLst>
                          <a:tab pos="274320" algn="l"/>
                        </a:tabLst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	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Model-diff-dri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  <a:hlinkClick r:id="rId1" action="ppaction://hlinksldjump">
                            <a:extLst>
                              <a:ext uri="{DAF060AB-1E55-43B9-8AAB-6FB025537F2F}">
                                <wpsdc:hlinkClr xmlns:wpsdc="http://www.wps.cn/officeDocument/2017/drawingmlCustomData" val="000000"/>
                                <wpsdc:folHlinkClr xmlns:wpsdc="http://www.wps.cn/officeDocument/2017/drawingmlCustomData" val="000000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ve</a:t>
                      </a:r>
                      <a:r>
                        <a:rPr sz="9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  <a:hlinkClick r:id="rId1" action="ppaction://hlinksldjump">
                            <a:extLst>
                              <a:ext uri="{DAF060AB-1E55-43B9-8AAB-6FB025537F2F}">
                                <wpsdc:hlinkClr xmlns:wpsdc="http://www.wps.cn/officeDocument/2017/drawingmlCustomData" val="000000"/>
                                <wpsdc:folHlinkClr xmlns:wpsdc="http://www.wps.cn/officeDocument/2017/drawingmlCustomData" val="000000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  <a:hlinkClick r:id="rId1" action="ppaction://hlinksldjump">
                            <a:extLst>
                              <a:ext uri="{DAF060AB-1E55-43B9-8AAB-6FB025537F2F}">
                                <wpsdc:hlinkClr xmlns:wpsdc="http://www.wps.cn/officeDocument/2017/drawingmlCustomData" val="000000"/>
                                <wpsdc:folHlinkClr xmlns:wpsdc="http://www.wps.cn/officeDocument/2017/drawingmlCustomData" val="000000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n</a:t>
                      </a:r>
                      <a:r>
                        <a:rPr sz="9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  <a:hlinkClick r:id="rId1" action="ppaction://hlinksldjump">
                            <a:extLst>
                              <a:ext uri="{DAF060AB-1E55-43B9-8AAB-6FB025537F2F}">
                                <wpsdc:hlinkClr xmlns:wpsdc="http://www.wps.cn/officeDocument/2017/drawingmlCustomData" val="000000"/>
                                <wpsdc:folHlinkClr xmlns:wpsdc="http://www.wps.cn/officeDocument/2017/drawingmlCustomData" val="000000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  <a:hlinkClick r:id="rId1" action="ppaction://hlinksldjump">
                            <a:extLst>
                              <a:ext uri="{DAF060AB-1E55-43B9-8AAB-6FB025537F2F}">
                                <wpsdc:hlinkClr xmlns:wpsdc="http://www.wps.cn/officeDocument/2017/drawingmlCustomData" val="000000"/>
                                <wpsdc:folHlinkClr xmlns:wpsdc="http://www.wps.cn/officeDocument/2017/drawingmlCustomData" val="000000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i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n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  <a:hlinkClick r:id="rId1" action="ppaction://hlinksldjump">
                            <a:extLst>
                              <a:ext uri="{DAF060AB-1E55-43B9-8AAB-6FB025537F2F}">
                                <wpsdc:hlinkClr xmlns:wpsdc="http://www.wps.cn/officeDocument/2017/drawingmlCustomData" val="000000"/>
                                <wpsdc:folHlinkClr xmlns:wpsdc="http://www.wps.cn/officeDocument/2017/drawingmlCustomData" val="000000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c</a:t>
                      </a:r>
                      <a:r>
                        <a:rPr sz="900" kern="0" spc="-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  <a:hlinkClick r:id="rId1" action="ppaction://hlinksldjump">
                            <a:extLst>
                              <a:ext uri="{DAF060AB-1E55-43B9-8AAB-6FB025537F2F}">
                                <wpsdc:hlinkClr xmlns:wpsdc="http://www.wps.cn/officeDocument/2017/drawingmlCustomData" val="000000"/>
                                <wpsdc:folHlinkClr xmlns:wpsdc="http://www.wps.cn/officeDocument/2017/drawingmlCustomData" val="000000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  <a:hlinkClick r:id="rId1" action="ppaction://hlinksldjump">
                            <a:extLst>
                              <a:ext uri="{DAF060AB-1E55-43B9-8AAB-6FB025537F2F}">
                                <wpsdc:hlinkClr xmlns:wpsdc="http://www.wps.cn/officeDocument/2017/drawingmlCustomData" val="000000"/>
                                <wpsdc:folHlinkClr xmlns:wpsdc="http://www.wps.cn/officeDocument/2017/drawingmlCustomData" val="000000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re</a:t>
                      </a:r>
                      <a:r>
                        <a:rPr sz="900" kern="0" spc="-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  <a:hlinkClick r:id="rId1" action="ppaction://hlinksldjump">
                            <a:extLst>
                              <a:ext uri="{DAF060AB-1E55-43B9-8AAB-6FB025537F2F}">
                                <wpsdc:hlinkClr xmlns:wpsdc="http://www.wps.cn/officeDocument/2017/drawingmlCustomData" val="000000"/>
                                <wpsdc:folHlinkClr xmlns:wpsdc="http://www.wps.cn/officeDocument/2017/drawingmlCustomData" val="000000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  <a:hlinkClick r:id="rId1" action="ppaction://hlinksldjump">
                            <a:extLst>
                              <a:ext uri="{DAF060AB-1E55-43B9-8AAB-6FB025537F2F}">
                                <wpsdc:hlinkClr xmlns:wpsdc="http://www.wps.cn/officeDocument/2017/drawingmlCustomData" val="000000"/>
                                <wpsdc:folHlinkClr xmlns:wpsdc="http://www.wps.cn/officeDocument/2017/drawingmlCustomData" val="000000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me</a:t>
                      </a:r>
                      <a:r>
                        <a:rPr sz="900" kern="0" spc="-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  <a:hlinkClick r:id="rId1" action="ppaction://hlinksldjump">
                            <a:extLst>
                              <a:ext uri="{DAF060AB-1E55-43B9-8AAB-6FB025537F2F}">
                                <wpsdc:hlinkClr xmlns:wpsdc="http://www.wps.cn/officeDocument/2017/drawingmlCustomData" val="000000"/>
                                <wpsdc:folHlinkClr xmlns:wpsdc="http://www.wps.cn/officeDocument/2017/drawingmlCustomData" val="000000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  <a:hlinkClick r:id="rId1" action="ppaction://hlinksldjump">
                            <a:extLst>
                              <a:ext uri="{DAF060AB-1E55-43B9-8AAB-6FB025537F2F}">
                                <wpsdc:hlinkClr xmlns:wpsdc="http://www.wps.cn/officeDocument/2017/drawingmlCustomData" val="000000"/>
                                <wpsdc:folHlinkClr xmlns:wpsdc="http://www.wps.cn/officeDocument/2017/drawingmlCustomData" val="000000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nta</a:t>
                      </a:r>
                      <a:r>
                        <a:rPr sz="900" kern="0" spc="-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  <a:hlinkClick r:id="rId1" action="ppaction://hlinksldjump">
                            <a:extLst>
                              <a:ext uri="{DAF060AB-1E55-43B9-8AAB-6FB025537F2F}">
                                <wpsdc:hlinkClr xmlns:wpsdc="http://www.wps.cn/officeDocument/2017/drawingmlCustomData" val="000000"/>
                                <wpsdc:folHlinkClr xmlns:wpsdc="http://www.wps.cn/officeDocument/2017/drawingmlCustomData" val="000000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  <a:hlinkClick r:id="rId1" action="ppaction://hlinksldjump">
                            <a:extLst>
                              <a:ext uri="{DAF060AB-1E55-43B9-8AAB-6FB025537F2F}">
                                <wpsdc:hlinkClr xmlns:wpsdc="http://www.wps.cn/officeDocument/2017/drawingmlCustomData" val="000000"/>
                                <wpsdc:folHlinkClr xmlns:wpsdc="http://www.wps.cn/officeDocument/2017/drawingmlCustomData" val="000000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l</a:t>
                      </a:r>
                      <a:r>
                        <a:rPr sz="9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  <a:hlinkClick r:id="rId1" action="ppaction://hlinksldjump">
                            <a:extLst>
                              <a:ext uri="{DAF060AB-1E55-43B9-8AAB-6FB025537F2F}">
                                <wpsdc:hlinkClr xmlns:wpsdc="http://www.wps.cn/officeDocument/2017/drawingmlCustomData" val="000000"/>
                                <wpsdc:folHlinkClr xmlns:wpsdc="http://www.wps.cn/officeDocument/2017/drawingmlCustomData" val="000000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  <a:hlinkClick r:id="rId1" action="ppaction://hlinksldjump">
                            <a:extLst>
                              <a:ext uri="{DAF060AB-1E55-43B9-8AAB-6FB025537F2F}">
                                <wpsdc:hlinkClr xmlns:wpsdc="http://www.wps.cn/officeDocument/2017/drawingmlCustomData" val="000000"/>
                                <wpsdc:folHlinkClr xmlns:wpsdc="http://www.wps.cn/officeDocument/2017/drawingmlCustomData" val="000000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rege</a:t>
                      </a:r>
                      <a:r>
                        <a:rPr sz="900" kern="0" spc="-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  <a:hlinkClick r:id="rId1" action="ppaction://hlinksldjump">
                            <a:extLst>
                              <a:ext uri="{DAF060AB-1E55-43B9-8AAB-6FB025537F2F}">
                                <wpsdc:hlinkClr xmlns:wpsdc="http://www.wps.cn/officeDocument/2017/drawingmlCustomData" val="000000"/>
                                <wpsdc:folHlinkClr xmlns:wpsdc="http://www.wps.cn/officeDocument/2017/drawingmlCustomData" val="000000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  <a:hlinkClick r:id="rId1" action="ppaction://hlinksldjump">
                            <a:extLst>
                              <a:ext uri="{DAF060AB-1E55-43B9-8AAB-6FB025537F2F}">
                                <wpsdc:hlinkClr xmlns:wpsdc="http://www.wps.cn/officeDocument/2017/drawingmlCustomData" val="000000"/>
                                <wpsdc:folHlinkClr xmlns:wpsdc="http://www.wps.cn/officeDocument/2017/drawingmlCustomData" val="000000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ne</a:t>
                      </a:r>
                      <a:r>
                        <a:rPr sz="900" kern="0" spc="-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  <a:hlinkClick r:id="rId1" action="ppaction://hlinksldjump">
                            <a:extLst>
                              <a:ext uri="{DAF060AB-1E55-43B9-8AAB-6FB025537F2F}">
                                <wpsdc:hlinkClr xmlns:wpsdc="http://www.wps.cn/officeDocument/2017/drawingmlCustomData" val="000000"/>
                                <wpsdc:folHlinkClr xmlns:wpsdc="http://www.wps.cn/officeDocument/2017/drawingmlCustomData" val="000000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  <a:hlinkClick r:id="rId1" action="ppaction://hlinksldjump">
                            <a:extLst>
                              <a:ext uri="{DAF060AB-1E55-43B9-8AAB-6FB025537F2F}">
                                <wpsdc:hlinkClr xmlns:wpsdc="http://www.wps.cn/officeDocument/2017/drawingmlCustomData" val="000000"/>
                                <wpsdc:folHlinkClr xmlns:wpsdc="http://www.wps.cn/officeDocument/2017/drawingmlCustomData" val="000000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rat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io</a:t>
                      </a:r>
                      <a:r>
                        <a:rPr sz="900" kern="0" spc="-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n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</a:t>
                      </a:r>
                      <a:endParaRPr sz="9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</a:pPr>
                      <a:endParaRPr sz="1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2411095" algn="l" rtl="0" eaLnBrk="0">
                        <a:lnSpc>
                          <a:spcPts val="505"/>
                        </a:lnSpc>
                        <a:spcBef>
                          <a:spcPts val="0"/>
                        </a:spcBef>
                      </a:pPr>
                      <a:r>
                        <a:rPr sz="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10</a:t>
                      </a:r>
                      <a:r>
                        <a:rPr sz="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/ 10</a:t>
                      </a:r>
                      <a:endParaRPr sz="4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EBE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BE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BF9"/>
                    </a:solidFill>
                  </a:tcPr>
                </a:tc>
              </a:tr>
            </a:tbl>
          </a:graphicData>
        </a:graphic>
      </p:graphicFrame>
      <p:pic>
        <p:nvPicPr>
          <p:cNvPr id="462" name="picture 4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620788" y="3013519"/>
            <a:ext cx="113881" cy="120192"/>
          </a:xfrm>
          <a:prstGeom prst="rect">
            <a:avLst/>
          </a:prstGeom>
        </p:spPr>
      </p:pic>
      <p:pic>
        <p:nvPicPr>
          <p:cNvPr id="464" name="picture 46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235908" y="3022208"/>
            <a:ext cx="59601" cy="59601"/>
          </a:xfrm>
          <a:prstGeom prst="rect">
            <a:avLst/>
          </a:prstGeom>
        </p:spPr>
      </p:pic>
      <p:pic>
        <p:nvPicPr>
          <p:cNvPr id="466" name="picture 46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235908" y="2832419"/>
            <a:ext cx="59601" cy="59601"/>
          </a:xfrm>
          <a:prstGeom prst="rect">
            <a:avLst/>
          </a:prstGeom>
        </p:spPr>
      </p:pic>
      <p:pic>
        <p:nvPicPr>
          <p:cNvPr id="468" name="picture 46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235908" y="2642631"/>
            <a:ext cx="59601" cy="59601"/>
          </a:xfrm>
          <a:prstGeom prst="rect">
            <a:avLst/>
          </a:prstGeom>
        </p:spPr>
      </p:pic>
      <p:pic>
        <p:nvPicPr>
          <p:cNvPr id="470" name="picture 47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51218" y="2869680"/>
            <a:ext cx="59601" cy="59601"/>
          </a:xfrm>
          <a:prstGeom prst="rect">
            <a:avLst/>
          </a:prstGeom>
        </p:spPr>
      </p:pic>
      <p:pic>
        <p:nvPicPr>
          <p:cNvPr id="472" name="picture 47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51218" y="2679892"/>
            <a:ext cx="59601" cy="59601"/>
          </a:xfrm>
          <a:prstGeom prst="rect">
            <a:avLst/>
          </a:prstGeom>
        </p:spPr>
      </p:pic>
      <p:sp>
        <p:nvSpPr>
          <p:cNvPr id="474" name="textbox 474"/>
          <p:cNvSpPr/>
          <p:nvPr/>
        </p:nvSpPr>
        <p:spPr>
          <a:xfrm>
            <a:off x="0" y="0"/>
            <a:ext cx="5760085" cy="350520"/>
          </a:xfrm>
          <a:prstGeom prst="rect">
            <a:avLst/>
          </a:prstGeom>
          <a:solidFill>
            <a:srgbClr val="4D4D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</a:pPr>
            <a:endParaRPr sz="8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0015" algn="l" rtl="0" eaLnBrk="0">
              <a:lnSpc>
                <a:spcPct val="74000"/>
              </a:lnSpc>
              <a:spcBef>
                <a:spcPts val="5"/>
              </a:spcBef>
            </a:pPr>
            <a:r>
              <a:rPr sz="1400" kern="0" spc="-5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Conclusion</a:t>
            </a:r>
            <a:r>
              <a:rPr sz="1400" kern="0" spc="18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400" kern="0" spc="-5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&amp;</a:t>
            </a:r>
            <a:r>
              <a:rPr sz="1400" kern="0" spc="18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400" kern="0" spc="-50" dirty="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Contributions</a:t>
            </a:r>
            <a:endParaRPr sz="14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76" name="textbox 476"/>
          <p:cNvSpPr/>
          <p:nvPr/>
        </p:nvSpPr>
        <p:spPr>
          <a:xfrm>
            <a:off x="238518" y="3012865"/>
            <a:ext cx="2726690" cy="3479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228" rIns="0" bIns="0"/>
          <a:lstStyle/>
          <a:p>
            <a:pPr marL="142875" indent="-71120" algn="l" rtl="0" eaLnBrk="0">
              <a:lnSpc>
                <a:spcPct val="122000"/>
              </a:lnSpc>
              <a:spcBef>
                <a:spcPts val="0"/>
              </a:spcBef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Converges</a:t>
            </a:r>
            <a:r>
              <a:rPr sz="900" kern="0" spc="1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iteration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(3-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iteration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max</a:t>
            </a:r>
            <a:r>
              <a:rPr sz="900" kern="0" spc="1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bound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)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Generalizable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to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other</a:t>
            </a:r>
            <a:r>
              <a:rPr sz="900" kern="0" spc="1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MDE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+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LLM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pipe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lines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478" name="picture 47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251218" y="3059469"/>
            <a:ext cx="59601" cy="59601"/>
          </a:xfrm>
          <a:prstGeom prst="rect">
            <a:avLst/>
          </a:prstGeom>
        </p:spPr>
      </p:pic>
      <p:sp>
        <p:nvSpPr>
          <p:cNvPr id="480" name="textbox 480"/>
          <p:cNvSpPr/>
          <p:nvPr/>
        </p:nvSpPr>
        <p:spPr>
          <a:xfrm>
            <a:off x="3349610" y="3165406"/>
            <a:ext cx="1652904" cy="153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3000"/>
              </a:lnSpc>
            </a:pP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Additional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app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lication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domains</a:t>
            </a: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9773</Words>
  <Application>WPS 文字</Application>
  <PresentationFormat/>
  <Paragraphs>414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宋体</vt:lpstr>
      <vt:lpstr>Wingdings</vt:lpstr>
      <vt:lpstr>Arial</vt:lpstr>
      <vt:lpstr>PingFang SC</vt:lpstr>
      <vt:lpstr>微软雅黑</vt:lpstr>
      <vt:lpstr>汉仪旗黑</vt:lpstr>
      <vt:lpstr>宋体</vt:lpstr>
      <vt:lpstr>Arial Unicode MS</vt:lpstr>
      <vt:lpstr>Calibri</vt:lpstr>
      <vt:lpstr>Helvetica Neue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Model-Driven Web Application Code Generation A Comparative Study with Pure LLM Approaches</dc:title>
  <dc:creator>Software Requirements Analysis and Design</dc:creator>
  <cp:lastModifiedBy>半梦半醒之间</cp:lastModifiedBy>
  <cp:revision>1</cp:revision>
  <dcterms:created xsi:type="dcterms:W3CDTF">2026-05-24T08:22:13Z</dcterms:created>
  <dcterms:modified xsi:type="dcterms:W3CDTF">2026-05-24T08:22:13Z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2026-05-24T16:20:35Z</vt:filetime>
  </property>
  <property fmtid="{D5CDD505-2E9C-101B-9397-08002B2CF9AE}" pid="4" name="ICV">
    <vt:lpwstr>B2D65EB36FCAFFFE35B5126A67BC117D_42</vt:lpwstr>
  </property>
  <property fmtid="{D5CDD505-2E9C-101B-9397-08002B2CF9AE}" pid="5" name="KSOProductBuildVer">
    <vt:lpwstr>2052-12.1.25869.25869</vt:lpwstr>
  </property>
</Properties>
</file>